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A847"/>
    <a:srgbClr val="8E714E"/>
    <a:srgbClr val="B3FFD5"/>
    <a:srgbClr val="00CC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4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F94D1C-AEAC-4387-B9CD-690756F888B8}" type="datetimeFigureOut">
              <a:rPr lang="en-US" smtClean="0"/>
              <a:t>7/7/2019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F2206F-8868-4D98-8C00-85660F650617}" type="slidenum">
              <a:rPr lang="en-US" smtClean="0"/>
              <a:t>‹#›</a:t>
            </a:fld>
            <a:endParaRPr lang="en-US"/>
          </a:p>
        </p:txBody>
      </p:sp>
    </p:spTree>
    <p:extLst>
      <p:ext uri="{BB962C8B-B14F-4D97-AF65-F5344CB8AC3E}">
        <p14:creationId xmlns:p14="http://schemas.microsoft.com/office/powerpoint/2010/main" val="289339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F2206F-8868-4D98-8C00-85660F650617}" type="slidenum">
              <a:rPr lang="en-US" smtClean="0"/>
              <a:t>2</a:t>
            </a:fld>
            <a:endParaRPr lang="en-US"/>
          </a:p>
        </p:txBody>
      </p:sp>
    </p:spTree>
    <p:extLst>
      <p:ext uri="{BB962C8B-B14F-4D97-AF65-F5344CB8AC3E}">
        <p14:creationId xmlns:p14="http://schemas.microsoft.com/office/powerpoint/2010/main" val="4190163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23CA20B-E68C-44DC-AB88-E43FEA7F9B3B}" type="datetime1">
              <a:rPr lang="en-US" smtClean="0"/>
              <a:t>7/7/2019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2181686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B2289E-274F-422B-A745-AE0163295336}" type="datetime1">
              <a:rPr lang="en-US" smtClean="0"/>
              <a:t>7/7/2019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2853087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F825B7-C67E-4667-8EC7-DFB1F0016457}" type="datetime1">
              <a:rPr lang="en-US" smtClean="0"/>
              <a:t>7/7/2019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1085839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BD8F5E3-7A79-48DF-830C-D37F0CD6F085}" type="datetime1">
              <a:rPr lang="en-US" smtClean="0"/>
              <a:t>7/7/2019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3562324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D91C263-5369-45D5-850A-F813D9A18267}" type="datetime1">
              <a:rPr lang="en-US" smtClean="0"/>
              <a:t>7/7/2019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410359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B31CC81-24A2-4123-9063-29080C70FC56}" type="datetime1">
              <a:rPr lang="en-US" smtClean="0"/>
              <a:t>7/7/2019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2366882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F7945-F324-4202-BC41-1F28DAE5B713}" type="datetime1">
              <a:rPr lang="en-US" smtClean="0"/>
              <a:t>7/7/2019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2687077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3434F2A-E0B9-44BA-B2E2-CEEC2492C2BB}" type="datetime1">
              <a:rPr lang="en-US" smtClean="0"/>
              <a:t>7/7/2019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407813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DA92E0-6C72-490C-A097-E47BF643AC54}" type="datetime1">
              <a:rPr lang="en-US" smtClean="0"/>
              <a:t>7/7/2019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1936520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2FCBE4-E933-4401-AB7D-FA0C45F69DFF}" type="datetime1">
              <a:rPr lang="en-US" smtClean="0"/>
              <a:t>7/7/2019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203729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2E0B0F-477C-4DED-936F-5580CF7F22A9}" type="datetime1">
              <a:rPr lang="en-US" smtClean="0"/>
              <a:t>7/7/2019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ED8BC-7FEA-4386-8669-F070A3E5BD66}" type="slidenum">
              <a:rPr lang="en-US" smtClean="0"/>
              <a:t>‹#›</a:t>
            </a:fld>
            <a:endParaRPr lang="en-US"/>
          </a:p>
        </p:txBody>
      </p:sp>
    </p:spTree>
    <p:extLst>
      <p:ext uri="{BB962C8B-B14F-4D97-AF65-F5344CB8AC3E}">
        <p14:creationId xmlns:p14="http://schemas.microsoft.com/office/powerpoint/2010/main" val="1287057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552740-4672-4B8D-A28D-BDA40F715925}" type="datetime1">
              <a:rPr lang="en-US" smtClean="0"/>
              <a:t>7/7/2019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3ED8BC-7FEA-4386-8669-F070A3E5BD66}" type="slidenum">
              <a:rPr lang="en-US" smtClean="0"/>
              <a:t>‹#›</a:t>
            </a:fld>
            <a:endParaRPr lang="en-US"/>
          </a:p>
        </p:txBody>
      </p:sp>
    </p:spTree>
    <p:extLst>
      <p:ext uri="{BB962C8B-B14F-4D97-AF65-F5344CB8AC3E}">
        <p14:creationId xmlns:p14="http://schemas.microsoft.com/office/powerpoint/2010/main" val="2475029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5.png"/><Relationship Id="rId10"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png"/><Relationship Id="rId7" Type="http://schemas.openxmlformats.org/officeDocument/2006/relationships/image" Target="../media/image15.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5.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06296" y="4543870"/>
            <a:ext cx="9144000" cy="1655762"/>
          </a:xfrm>
        </p:spPr>
        <p:txBody>
          <a:bodyPr>
            <a:normAutofit/>
          </a:bodyPr>
          <a:lstStyle/>
          <a:p>
            <a:pPr marL="457200" indent="-457200" algn="r" rtl="1">
              <a:buBlip>
                <a:blip r:embed="rId2"/>
              </a:buBlip>
            </a:pPr>
            <a:r>
              <a:rPr lang="fa-IR" sz="3200" dirty="0" smtClean="0">
                <a:cs typeface="B Nazanin" panose="00000400000000000000" pitchFamily="2" charset="-78"/>
              </a:rPr>
              <a:t>گردآورده: یاسین بلورچی</a:t>
            </a:r>
          </a:p>
          <a:p>
            <a:pPr marL="457200" indent="-457200" algn="r" rtl="1">
              <a:buBlip>
                <a:blip r:embed="rId2"/>
              </a:buBlip>
            </a:pPr>
            <a:r>
              <a:rPr lang="fa-IR" sz="3200" dirty="0" smtClean="0">
                <a:cs typeface="B Nazanin" panose="00000400000000000000" pitchFamily="2" charset="-78"/>
              </a:rPr>
              <a:t>استاد: دکتر روژیار پیرمحمدیانی</a:t>
            </a:r>
            <a:endParaRPr lang="en-US" sz="3200" dirty="0">
              <a:cs typeface="B Nazanin" panose="00000400000000000000" pitchFamily="2" charset="-78"/>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93494" y="1485200"/>
            <a:ext cx="8569604" cy="2327848"/>
          </a:xfrm>
          <a:prstGeom prst="rect">
            <a:avLst/>
          </a:prstGeom>
        </p:spPr>
      </p:pic>
    </p:spTree>
    <p:extLst>
      <p:ext uri="{BB962C8B-B14F-4D97-AF65-F5344CB8AC3E}">
        <p14:creationId xmlns:p14="http://schemas.microsoft.com/office/powerpoint/2010/main" val="17337061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pic>
        <p:nvPicPr>
          <p:cNvPr id="13" name="Picture 12"/>
          <p:cNvPicPr>
            <a:picLocks noChangeAspect="1"/>
          </p:cNvPicPr>
          <p:nvPr/>
        </p:nvPicPr>
        <p:blipFill rotWithShape="1">
          <a:blip r:embed="rId5">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en-US" dirty="0" smtClean="0">
                <a:cs typeface="B Nazanin" panose="00000400000000000000" pitchFamily="2" charset="-78"/>
              </a:rPr>
              <a:t>NoSQL</a:t>
            </a:r>
            <a:r>
              <a:rPr lang="fa-IR" dirty="0" smtClean="0">
                <a:cs typeface="B Nazanin" panose="00000400000000000000" pitchFamily="2" charset="-78"/>
              </a:rPr>
              <a:t> چیست؟</a:t>
            </a:r>
            <a:endParaRPr lang="en-US" dirty="0">
              <a:cs typeface="B Nazanin" panose="00000400000000000000" pitchFamily="2" charset="-78"/>
            </a:endParaRPr>
          </a:p>
        </p:txBody>
      </p:sp>
      <p:sp>
        <p:nvSpPr>
          <p:cNvPr id="19" name="Content Placeholder 2"/>
          <p:cNvSpPr>
            <a:spLocks noGrp="1"/>
          </p:cNvSpPr>
          <p:nvPr>
            <p:ph idx="1"/>
          </p:nvPr>
        </p:nvSpPr>
        <p:spPr>
          <a:xfrm>
            <a:off x="4509655" y="1825625"/>
            <a:ext cx="6844144" cy="4351338"/>
          </a:xfrm>
        </p:spPr>
        <p:txBody>
          <a:bodyPr/>
          <a:lstStyle/>
          <a:p>
            <a:pPr algn="r" rtl="1">
              <a:buBlip>
                <a:blip r:embed="rId6"/>
              </a:buBlip>
            </a:pPr>
            <a:r>
              <a:rPr lang="fa-IR" dirty="0" smtClean="0">
                <a:cs typeface="B Nazanin" panose="00000400000000000000" pitchFamily="2" charset="-78"/>
              </a:rPr>
              <a:t>رایج ترین دسته پایگاه داده ها بر مبنای </a:t>
            </a:r>
            <a:r>
              <a:rPr lang="en-US" dirty="0" smtClean="0">
                <a:cs typeface="B Nazanin" panose="00000400000000000000" pitchFamily="2" charset="-78"/>
              </a:rPr>
              <a:t>SQL</a:t>
            </a:r>
            <a:r>
              <a:rPr lang="fa-IR" dirty="0">
                <a:cs typeface="B Nazanin" panose="00000400000000000000" pitchFamily="2" charset="-78"/>
              </a:rPr>
              <a:t> </a:t>
            </a:r>
            <a:r>
              <a:rPr lang="fa-IR" dirty="0" smtClean="0">
                <a:cs typeface="B Nazanin" panose="00000400000000000000" pitchFamily="2" charset="-78"/>
              </a:rPr>
              <a:t>میباشد و اینگونه پایگاه داده ها «ارتباطی» یا </a:t>
            </a:r>
            <a:r>
              <a:rPr lang="en-US" dirty="0" smtClean="0">
                <a:cs typeface="B Nazanin" panose="00000400000000000000" pitchFamily="2" charset="-78"/>
              </a:rPr>
              <a:t>Relational</a:t>
            </a:r>
            <a:r>
              <a:rPr lang="fa-IR" dirty="0" smtClean="0">
                <a:cs typeface="B Nazanin" panose="00000400000000000000" pitchFamily="2" charset="-78"/>
              </a:rPr>
              <a:t> نامیده میشوند.</a:t>
            </a:r>
          </a:p>
          <a:p>
            <a:pPr algn="r" rtl="1">
              <a:buBlip>
                <a:blip r:embed="rId6"/>
              </a:buBlip>
            </a:pPr>
            <a:endParaRPr lang="fa-IR" dirty="0" smtClean="0">
              <a:cs typeface="B Nazanin" panose="00000400000000000000" pitchFamily="2" charset="-78"/>
            </a:endParaRPr>
          </a:p>
          <a:p>
            <a:pPr algn="r" rtl="1">
              <a:buBlip>
                <a:blip r:embed="rId6"/>
              </a:buBlip>
            </a:pPr>
            <a:r>
              <a:rPr lang="fa-IR" dirty="0" smtClean="0">
                <a:cs typeface="B Nazanin" panose="00000400000000000000" pitchFamily="2" charset="-78"/>
              </a:rPr>
              <a:t>نیاز به پردازش و ذخیره سازی سریع و بهینه تر، سرعت بالا و عدم امکان استفاده از جداول بوجود آمد.</a:t>
            </a:r>
          </a:p>
          <a:p>
            <a:pPr algn="r" rtl="1">
              <a:buBlip>
                <a:blip r:embed="rId6"/>
              </a:buBlip>
            </a:pPr>
            <a:endParaRPr lang="fa-IR" dirty="0" smtClean="0">
              <a:cs typeface="B Nazanin" panose="00000400000000000000" pitchFamily="2" charset="-78"/>
            </a:endParaRPr>
          </a:p>
          <a:p>
            <a:pPr algn="r" rtl="1">
              <a:buBlip>
                <a:blip r:embed="rId6"/>
              </a:buBlip>
            </a:pPr>
            <a:r>
              <a:rPr lang="fa-IR" dirty="0" smtClean="0">
                <a:cs typeface="B Nazanin" panose="00000400000000000000" pitchFamily="2" charset="-78"/>
              </a:rPr>
              <a:t>تکنولوژی جدیدی به نام </a:t>
            </a:r>
            <a:r>
              <a:rPr lang="en-US" dirty="0" smtClean="0">
                <a:cs typeface="B Nazanin" panose="00000400000000000000" pitchFamily="2" charset="-78"/>
              </a:rPr>
              <a:t>NoSQL</a:t>
            </a:r>
            <a:r>
              <a:rPr lang="fa-IR" dirty="0" smtClean="0">
                <a:cs typeface="B Nazanin" panose="00000400000000000000" pitchFamily="2" charset="-78"/>
              </a:rPr>
              <a:t> با هدف ذخیره سازی و کا با داده های بدون ساختار و حجیم بوجود آمد</a:t>
            </a:r>
            <a:endParaRPr lang="en-US" dirty="0">
              <a:cs typeface="B Nazanin" panose="00000400000000000000" pitchFamily="2" charset="-78"/>
            </a:endParaRPr>
          </a:p>
        </p:txBody>
      </p:sp>
      <p:sp>
        <p:nvSpPr>
          <p:cNvPr id="21"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sp>
        <p:nvSpPr>
          <p:cNvPr id="22" name="Slide Number Placeholder 19"/>
          <p:cNvSpPr txBox="1">
            <a:spLocks/>
          </p:cNvSpPr>
          <p:nvPr/>
        </p:nvSpPr>
        <p:spPr>
          <a:xfrm>
            <a:off x="165354" y="5331111"/>
            <a:ext cx="461772"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3ED8BC-7FEA-4386-8669-F070A3E5BD66}" type="slidenum">
              <a:rPr lang="en-US" sz="2000" smtClean="0"/>
              <a:pPr/>
              <a:t>2</a:t>
            </a:fld>
            <a:endParaRPr lang="en-US" sz="2000" dirty="0"/>
          </a:p>
        </p:txBody>
      </p:sp>
      <p:pic>
        <p:nvPicPr>
          <p:cNvPr id="5" name="Picture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6596" y="2119546"/>
            <a:ext cx="4346490" cy="2608318"/>
          </a:xfrm>
          <a:prstGeom prst="rect">
            <a:avLst/>
          </a:prstGeom>
        </p:spPr>
      </p:pic>
    </p:spTree>
    <p:extLst>
      <p:ext uri="{BB962C8B-B14F-4D97-AF65-F5344CB8AC3E}">
        <p14:creationId xmlns:p14="http://schemas.microsoft.com/office/powerpoint/2010/main" val="42154686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fa-IR" dirty="0" smtClean="0">
                <a:cs typeface="B Nazanin" panose="00000400000000000000" pitchFamily="2" charset="-78"/>
              </a:rPr>
              <a:t>مزایا و معایب </a:t>
            </a:r>
            <a:r>
              <a:rPr lang="en-US" dirty="0" smtClean="0">
                <a:cs typeface="B Nazanin" panose="00000400000000000000" pitchFamily="2" charset="-78"/>
              </a:rPr>
              <a:t>NoSQL</a:t>
            </a:r>
            <a:endParaRPr lang="en-US" dirty="0">
              <a:cs typeface="B Nazanin" panose="00000400000000000000" pitchFamily="2" charset="-78"/>
            </a:endParaRPr>
          </a:p>
        </p:txBody>
      </p:sp>
      <p:sp>
        <p:nvSpPr>
          <p:cNvPr id="19" name="Content Placeholder 2"/>
          <p:cNvSpPr>
            <a:spLocks noGrp="1"/>
          </p:cNvSpPr>
          <p:nvPr>
            <p:ph idx="1"/>
          </p:nvPr>
        </p:nvSpPr>
        <p:spPr>
          <a:xfrm>
            <a:off x="5881255" y="1825625"/>
            <a:ext cx="5472544" cy="4351338"/>
          </a:xfrm>
        </p:spPr>
        <p:txBody>
          <a:bodyPr/>
          <a:lstStyle/>
          <a:p>
            <a:pPr algn="r" rtl="1">
              <a:buBlip>
                <a:blip r:embed="rId4"/>
              </a:buBlip>
            </a:pPr>
            <a:r>
              <a:rPr lang="fa-IR" dirty="0" smtClean="0">
                <a:cs typeface="B Nazanin" panose="00000400000000000000" pitchFamily="2" charset="-78"/>
              </a:rPr>
              <a:t>خلاء ایجاد شده توسط نقاط ضعف </a:t>
            </a:r>
            <a:r>
              <a:rPr lang="en-US" dirty="0" smtClean="0">
                <a:cs typeface="B Nazanin" panose="00000400000000000000" pitchFamily="2" charset="-78"/>
              </a:rPr>
              <a:t>SQL</a:t>
            </a:r>
            <a:r>
              <a:rPr lang="fa-IR" dirty="0" smtClean="0">
                <a:cs typeface="B Nazanin" panose="00000400000000000000" pitchFamily="2" charset="-78"/>
              </a:rPr>
              <a:t> باعث ایجاد و توسعه </a:t>
            </a:r>
            <a:r>
              <a:rPr lang="en-US" dirty="0" smtClean="0">
                <a:cs typeface="B Nazanin" panose="00000400000000000000" pitchFamily="2" charset="-78"/>
              </a:rPr>
              <a:t>NoSQL</a:t>
            </a:r>
            <a:r>
              <a:rPr lang="fa-IR" dirty="0" smtClean="0">
                <a:cs typeface="B Nazanin" panose="00000400000000000000" pitchFamily="2" charset="-78"/>
              </a:rPr>
              <a:t> شد.</a:t>
            </a:r>
          </a:p>
          <a:p>
            <a:pPr algn="r" rtl="1">
              <a:buBlip>
                <a:blip r:embed="rId4"/>
              </a:buBlip>
            </a:pPr>
            <a:endParaRPr lang="en-US" dirty="0">
              <a:cs typeface="B Nazanin" panose="00000400000000000000" pitchFamily="2" charset="-78"/>
            </a:endParaRPr>
          </a:p>
          <a:p>
            <a:pPr algn="r" rtl="1">
              <a:buBlip>
                <a:blip r:embed="rId4"/>
              </a:buBlip>
            </a:pPr>
            <a:r>
              <a:rPr lang="en-US" dirty="0" smtClean="0">
                <a:cs typeface="B Nazanin" panose="00000400000000000000" pitchFamily="2" charset="-78"/>
              </a:rPr>
              <a:t>NoSQL</a:t>
            </a:r>
            <a:r>
              <a:rPr lang="fa-IR" dirty="0">
                <a:cs typeface="B Nazanin" panose="00000400000000000000" pitchFamily="2" charset="-78"/>
              </a:rPr>
              <a:t> ﻗﺎﺑﻠﯿﺖ ﻣﺪﯾﺮﯾﺖ ﮐﺮدن و ﮐﺎر ﺑﺎ ﺣﺠﻢ ﺑﺴﯿﺎر ﻋﻈﯿﻤﯽ از داده ﻫﺎ را </a:t>
            </a:r>
            <a:r>
              <a:rPr lang="fa-IR" dirty="0" smtClean="0">
                <a:cs typeface="B Nazanin" panose="00000400000000000000" pitchFamily="2" charset="-78"/>
              </a:rPr>
              <a:t>داراﺳﺖ.</a:t>
            </a:r>
          </a:p>
        </p:txBody>
      </p:sp>
      <p:pic>
        <p:nvPicPr>
          <p:cNvPr id="11" name="Picture 10"/>
          <p:cNvPicPr>
            <a:picLocks noChangeAspect="1"/>
          </p:cNvPicPr>
          <p:nvPr/>
        </p:nvPicPr>
        <p:blipFill rotWithShape="1">
          <a:blip r:embed="rId5">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4" name="Slide Number Placeholder 19"/>
          <p:cNvSpPr txBox="1">
            <a:spLocks/>
          </p:cNvSpPr>
          <p:nvPr/>
        </p:nvSpPr>
        <p:spPr>
          <a:xfrm>
            <a:off x="165354" y="5331111"/>
            <a:ext cx="461772"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3</a:t>
            </a:r>
            <a:endParaRPr lang="en-US" sz="2000" dirty="0"/>
          </a:p>
        </p:txBody>
      </p:sp>
      <p:sp>
        <p:nvSpPr>
          <p:cNvPr id="15"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6172" y="4001294"/>
            <a:ext cx="5658473" cy="2357697"/>
          </a:xfrm>
          <a:prstGeom prst="rect">
            <a:avLst/>
          </a:prstGeom>
        </p:spPr>
      </p:pic>
      <p:sp>
        <p:nvSpPr>
          <p:cNvPr id="10" name="Content Placeholder 2"/>
          <p:cNvSpPr txBox="1">
            <a:spLocks/>
          </p:cNvSpPr>
          <p:nvPr/>
        </p:nvSpPr>
        <p:spPr>
          <a:xfrm>
            <a:off x="761999" y="1825625"/>
            <a:ext cx="480752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buBlip>
                <a:blip r:embed="rId4"/>
              </a:buBlip>
            </a:pPr>
            <a:r>
              <a:rPr lang="fa-IR" dirty="0" smtClean="0">
                <a:cs typeface="B Nazanin" panose="00000400000000000000" pitchFamily="2" charset="-78"/>
              </a:rPr>
              <a:t>با این حال از نقاط ضعف </a:t>
            </a:r>
            <a:r>
              <a:rPr lang="en-US" dirty="0" smtClean="0">
                <a:cs typeface="B Nazanin" panose="00000400000000000000" pitchFamily="2" charset="-78"/>
              </a:rPr>
              <a:t>NoSQL</a:t>
            </a:r>
            <a:r>
              <a:rPr lang="fa-IR" dirty="0" smtClean="0">
                <a:cs typeface="B Nazanin" panose="00000400000000000000" pitchFamily="2" charset="-78"/>
              </a:rPr>
              <a:t> میتوان به عدم امکان کار با کوئری های پیچیده اشاره کرد.</a:t>
            </a:r>
            <a:endParaRPr lang="en-US" dirty="0" smtClean="0">
              <a:cs typeface="B Nazanin" panose="00000400000000000000" pitchFamily="2" charset="-78"/>
            </a:endParaRPr>
          </a:p>
          <a:p>
            <a:pPr algn="r" rtl="1">
              <a:buBlip>
                <a:blip r:embed="rId4"/>
              </a:buBlip>
            </a:pPr>
            <a:endParaRPr lang="en-US" dirty="0">
              <a:cs typeface="B Nazanin" panose="00000400000000000000" pitchFamily="2" charset="-78"/>
            </a:endParaRPr>
          </a:p>
        </p:txBody>
      </p:sp>
    </p:spTree>
    <p:extLst>
      <p:ext uri="{BB962C8B-B14F-4D97-AF65-F5344CB8AC3E}">
        <p14:creationId xmlns:p14="http://schemas.microsoft.com/office/powerpoint/2010/main" val="1288030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fa-IR" dirty="0" smtClean="0">
                <a:cs typeface="B Nazanin" panose="00000400000000000000" pitchFamily="2" charset="-78"/>
              </a:rPr>
              <a:t>انواع مختلف </a:t>
            </a:r>
            <a:r>
              <a:rPr lang="en-US" dirty="0" smtClean="0">
                <a:cs typeface="B Nazanin" panose="00000400000000000000" pitchFamily="2" charset="-78"/>
              </a:rPr>
              <a:t>NoSQL</a:t>
            </a:r>
            <a:endParaRPr lang="en-US" dirty="0">
              <a:cs typeface="B Nazanin" panose="00000400000000000000" pitchFamily="2" charset="-78"/>
            </a:endParaRPr>
          </a:p>
        </p:txBody>
      </p:sp>
      <p:sp>
        <p:nvSpPr>
          <p:cNvPr id="19" name="Content Placeholder 2"/>
          <p:cNvSpPr>
            <a:spLocks noGrp="1"/>
          </p:cNvSpPr>
          <p:nvPr>
            <p:ph idx="1"/>
          </p:nvPr>
        </p:nvSpPr>
        <p:spPr>
          <a:xfrm>
            <a:off x="838200" y="1825625"/>
            <a:ext cx="10515600" cy="4351338"/>
          </a:xfrm>
        </p:spPr>
        <p:txBody>
          <a:bodyPr/>
          <a:lstStyle/>
          <a:p>
            <a:pPr algn="r" rtl="1">
              <a:buBlip>
                <a:blip r:embed="rId4"/>
              </a:buBlip>
            </a:pPr>
            <a:r>
              <a:rPr lang="fa-IR" dirty="0" smtClean="0">
                <a:cs typeface="B Nazanin" panose="00000400000000000000" pitchFamily="2" charset="-78"/>
              </a:rPr>
              <a:t>کیلد و مقدار </a:t>
            </a:r>
            <a:r>
              <a:rPr lang="en-US" dirty="0" smtClean="0">
                <a:cs typeface="B Nazanin" panose="00000400000000000000" pitchFamily="2" charset="-78"/>
              </a:rPr>
              <a:t>(</a:t>
            </a:r>
            <a:r>
              <a:rPr lang="en-US" dirty="0" smtClean="0">
                <a:solidFill>
                  <a:srgbClr val="8E714E"/>
                </a:solidFill>
                <a:cs typeface="B Nazanin" panose="00000400000000000000" pitchFamily="2" charset="-78"/>
              </a:rPr>
              <a:t>Key-value</a:t>
            </a:r>
            <a:r>
              <a:rPr lang="en-US" dirty="0" smtClean="0">
                <a:cs typeface="B Nazanin" panose="00000400000000000000" pitchFamily="2" charset="-78"/>
              </a:rPr>
              <a:t> NoSQL)</a:t>
            </a:r>
            <a:r>
              <a:rPr lang="fa-IR" dirty="0" smtClean="0">
                <a:cs typeface="B Nazanin" panose="00000400000000000000" pitchFamily="2" charset="-78"/>
              </a:rPr>
              <a:t>:</a:t>
            </a:r>
          </a:p>
          <a:p>
            <a:pPr algn="r" rtl="1">
              <a:buBlip>
                <a:blip r:embed="rId4"/>
              </a:buBlip>
            </a:pPr>
            <a:endParaRPr lang="fa-IR" dirty="0">
              <a:cs typeface="B Nazanin" panose="00000400000000000000" pitchFamily="2" charset="-78"/>
            </a:endParaRPr>
          </a:p>
          <a:p>
            <a:pPr algn="r" rtl="1">
              <a:buBlip>
                <a:blip r:embed="rId4"/>
              </a:buBlip>
            </a:pPr>
            <a:r>
              <a:rPr lang="fa-IR" dirty="0" smtClean="0">
                <a:cs typeface="B Nazanin" panose="00000400000000000000" pitchFamily="2" charset="-78"/>
              </a:rPr>
              <a:t>اسناد </a:t>
            </a:r>
            <a:r>
              <a:rPr lang="en-US" dirty="0" smtClean="0">
                <a:cs typeface="B Nazanin" panose="00000400000000000000" pitchFamily="2" charset="-78"/>
              </a:rPr>
              <a:t>(</a:t>
            </a:r>
            <a:r>
              <a:rPr lang="en-US" dirty="0" smtClean="0">
                <a:solidFill>
                  <a:srgbClr val="8E714E"/>
                </a:solidFill>
                <a:cs typeface="B Nazanin" panose="00000400000000000000" pitchFamily="2" charset="-78"/>
              </a:rPr>
              <a:t>Documents</a:t>
            </a:r>
            <a:r>
              <a:rPr lang="en-US" dirty="0" smtClean="0">
                <a:cs typeface="B Nazanin" panose="00000400000000000000" pitchFamily="2" charset="-78"/>
              </a:rPr>
              <a:t> NoSQL)</a:t>
            </a:r>
            <a:r>
              <a:rPr lang="fa-IR" dirty="0" smtClean="0">
                <a:cs typeface="B Nazanin" panose="00000400000000000000" pitchFamily="2" charset="-78"/>
              </a:rPr>
              <a:t>:</a:t>
            </a:r>
          </a:p>
          <a:p>
            <a:pPr algn="r" rtl="1">
              <a:buBlip>
                <a:blip r:embed="rId4"/>
              </a:buBlip>
            </a:pPr>
            <a:endParaRPr lang="fa-IR" dirty="0">
              <a:cs typeface="B Nazanin" panose="00000400000000000000" pitchFamily="2" charset="-78"/>
            </a:endParaRPr>
          </a:p>
          <a:p>
            <a:pPr algn="r" rtl="1">
              <a:buBlip>
                <a:blip r:embed="rId4"/>
              </a:buBlip>
            </a:pPr>
            <a:r>
              <a:rPr lang="fa-IR" dirty="0" smtClean="0">
                <a:cs typeface="B Nazanin" panose="00000400000000000000" pitchFamily="2" charset="-78"/>
              </a:rPr>
              <a:t>چند ستونه </a:t>
            </a:r>
            <a:r>
              <a:rPr lang="en-US" dirty="0" smtClean="0">
                <a:cs typeface="B Nazanin" panose="00000400000000000000" pitchFamily="2" charset="-78"/>
              </a:rPr>
              <a:t>(</a:t>
            </a:r>
            <a:r>
              <a:rPr lang="en-US" dirty="0" smtClean="0">
                <a:solidFill>
                  <a:srgbClr val="8E714E"/>
                </a:solidFill>
                <a:cs typeface="B Nazanin" panose="00000400000000000000" pitchFamily="2" charset="-78"/>
              </a:rPr>
              <a:t>Wide-column</a:t>
            </a:r>
            <a:r>
              <a:rPr lang="en-US" dirty="0" smtClean="0">
                <a:cs typeface="B Nazanin" panose="00000400000000000000" pitchFamily="2" charset="-78"/>
              </a:rPr>
              <a:t> NoSQL)</a:t>
            </a:r>
            <a:r>
              <a:rPr lang="fa-IR" dirty="0" smtClean="0">
                <a:cs typeface="B Nazanin" panose="00000400000000000000" pitchFamily="2" charset="-78"/>
              </a:rPr>
              <a:t>:</a:t>
            </a:r>
          </a:p>
          <a:p>
            <a:pPr algn="r" rtl="1">
              <a:buBlip>
                <a:blip r:embed="rId4"/>
              </a:buBlip>
            </a:pPr>
            <a:endParaRPr lang="fa-IR" dirty="0">
              <a:cs typeface="B Nazanin" panose="00000400000000000000" pitchFamily="2" charset="-78"/>
            </a:endParaRPr>
          </a:p>
          <a:p>
            <a:pPr algn="r" rtl="1">
              <a:buBlip>
                <a:blip r:embed="rId4"/>
              </a:buBlip>
            </a:pPr>
            <a:r>
              <a:rPr lang="fa-IR" dirty="0" smtClean="0">
                <a:cs typeface="B Nazanin" panose="00000400000000000000" pitchFamily="2" charset="-78"/>
              </a:rPr>
              <a:t>گرافی </a:t>
            </a:r>
            <a:r>
              <a:rPr lang="en-US" dirty="0" smtClean="0">
                <a:cs typeface="B Nazanin" panose="00000400000000000000" pitchFamily="2" charset="-78"/>
              </a:rPr>
              <a:t>(</a:t>
            </a:r>
            <a:r>
              <a:rPr lang="en-US" dirty="0" smtClean="0">
                <a:solidFill>
                  <a:srgbClr val="8E714E"/>
                </a:solidFill>
                <a:cs typeface="B Nazanin" panose="00000400000000000000" pitchFamily="2" charset="-78"/>
              </a:rPr>
              <a:t>Graph</a:t>
            </a:r>
            <a:r>
              <a:rPr lang="en-US" dirty="0" smtClean="0">
                <a:cs typeface="B Nazanin" panose="00000400000000000000" pitchFamily="2" charset="-78"/>
              </a:rPr>
              <a:t> NoSQL)</a:t>
            </a:r>
            <a:r>
              <a:rPr lang="fa-IR" dirty="0" smtClean="0">
                <a:cs typeface="B Nazanin" panose="00000400000000000000" pitchFamily="2" charset="-78"/>
              </a:rPr>
              <a:t>:</a:t>
            </a:r>
            <a:endParaRPr lang="en-US" dirty="0" smtClean="0">
              <a:cs typeface="B Nazanin" panose="00000400000000000000" pitchFamily="2" charset="-78"/>
            </a:endParaRPr>
          </a:p>
          <a:p>
            <a:pPr algn="r" rtl="1">
              <a:buBlip>
                <a:blip r:embed="rId4"/>
              </a:buBlip>
            </a:pPr>
            <a:endParaRPr lang="en-US" dirty="0">
              <a:cs typeface="B Nazanin" panose="00000400000000000000" pitchFamily="2" charset="-78"/>
            </a:endParaRPr>
          </a:p>
        </p:txBody>
      </p:sp>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0" name="Slide Number Placeholder 19"/>
          <p:cNvSpPr txBox="1">
            <a:spLocks/>
          </p:cNvSpPr>
          <p:nvPr/>
        </p:nvSpPr>
        <p:spPr>
          <a:xfrm>
            <a:off x="165354" y="5331111"/>
            <a:ext cx="461772"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4</a:t>
            </a:r>
            <a:endParaRPr lang="en-US" sz="2000" dirty="0"/>
          </a:p>
        </p:txBody>
      </p:sp>
      <p:sp>
        <p:nvSpPr>
          <p:cNvPr id="11"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pic>
        <p:nvPicPr>
          <p:cNvPr id="2" name="Picture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76172" y="1758157"/>
            <a:ext cx="4596109" cy="4596109"/>
          </a:xfrm>
          <a:prstGeom prst="rect">
            <a:avLst/>
          </a:prstGeom>
        </p:spPr>
      </p:pic>
    </p:spTree>
    <p:extLst>
      <p:ext uri="{BB962C8B-B14F-4D97-AF65-F5344CB8AC3E}">
        <p14:creationId xmlns:p14="http://schemas.microsoft.com/office/powerpoint/2010/main" val="23480212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fa-IR" dirty="0" smtClean="0">
                <a:cs typeface="B Nazanin" panose="00000400000000000000" pitchFamily="2" charset="-78"/>
              </a:rPr>
              <a:t>برخی از پایگاه داده های </a:t>
            </a:r>
            <a:r>
              <a:rPr lang="en-US" dirty="0" smtClean="0">
                <a:cs typeface="B Nazanin" panose="00000400000000000000" pitchFamily="2" charset="-78"/>
              </a:rPr>
              <a:t>NoSQL</a:t>
            </a:r>
            <a:endParaRPr lang="en-US" dirty="0">
              <a:cs typeface="B Nazanin" panose="00000400000000000000" pitchFamily="2" charset="-78"/>
            </a:endParaRPr>
          </a:p>
        </p:txBody>
      </p:sp>
      <p:sp>
        <p:nvSpPr>
          <p:cNvPr id="19" name="Content Placeholder 2"/>
          <p:cNvSpPr>
            <a:spLocks noGrp="1"/>
          </p:cNvSpPr>
          <p:nvPr>
            <p:ph idx="1"/>
          </p:nvPr>
        </p:nvSpPr>
        <p:spPr>
          <a:xfrm>
            <a:off x="838200" y="1825625"/>
            <a:ext cx="10515600" cy="4351338"/>
          </a:xfrm>
        </p:spPr>
        <p:txBody>
          <a:bodyPr>
            <a:normAutofit/>
          </a:bodyPr>
          <a:lstStyle/>
          <a:p>
            <a:pPr algn="r" rtl="1">
              <a:buBlip>
                <a:blip r:embed="rId4"/>
              </a:buBlip>
            </a:pPr>
            <a:r>
              <a:rPr lang="en-US" sz="4400" dirty="0" smtClean="0">
                <a:solidFill>
                  <a:srgbClr val="FF0000"/>
                </a:solidFill>
                <a:cs typeface="B Nazanin" panose="00000400000000000000" pitchFamily="2" charset="-78"/>
              </a:rPr>
              <a:t>A</a:t>
            </a:r>
            <a:r>
              <a:rPr lang="en-US" sz="4400" dirty="0" smtClean="0">
                <a:cs typeface="B Nazanin" panose="00000400000000000000" pitchFamily="2" charset="-78"/>
              </a:rPr>
              <a:t>erospike</a:t>
            </a:r>
          </a:p>
          <a:p>
            <a:pPr algn="r" rtl="1">
              <a:buBlip>
                <a:blip r:embed="rId4"/>
              </a:buBlip>
            </a:pPr>
            <a:r>
              <a:rPr lang="en-US" sz="4400" dirty="0" smtClean="0">
                <a:solidFill>
                  <a:srgbClr val="FF0000"/>
                </a:solidFill>
                <a:cs typeface="B Nazanin" panose="00000400000000000000" pitchFamily="2" charset="-78"/>
              </a:rPr>
              <a:t>R</a:t>
            </a:r>
            <a:r>
              <a:rPr lang="en-US" sz="4400" dirty="0" smtClean="0">
                <a:cs typeface="B Nazanin" panose="00000400000000000000" pitchFamily="2" charset="-78"/>
              </a:rPr>
              <a:t>edis</a:t>
            </a:r>
          </a:p>
          <a:p>
            <a:pPr algn="r" rtl="1">
              <a:buBlip>
                <a:blip r:embed="rId4"/>
              </a:buBlip>
            </a:pPr>
            <a:r>
              <a:rPr lang="en-US" sz="4400" dirty="0" smtClean="0">
                <a:solidFill>
                  <a:srgbClr val="0070C0"/>
                </a:solidFill>
                <a:cs typeface="B Nazanin" panose="00000400000000000000" pitchFamily="2" charset="-78"/>
              </a:rPr>
              <a:t>C</a:t>
            </a:r>
            <a:r>
              <a:rPr lang="en-US" sz="4400" dirty="0" smtClean="0">
                <a:cs typeface="B Nazanin" panose="00000400000000000000" pitchFamily="2" charset="-78"/>
              </a:rPr>
              <a:t>assandra</a:t>
            </a:r>
          </a:p>
          <a:p>
            <a:pPr algn="r" rtl="1">
              <a:buBlip>
                <a:blip r:embed="rId4"/>
              </a:buBlip>
            </a:pPr>
            <a:r>
              <a:rPr lang="en-US" sz="4400" dirty="0" smtClean="0">
                <a:solidFill>
                  <a:srgbClr val="92D050"/>
                </a:solidFill>
                <a:cs typeface="B Nazanin" panose="00000400000000000000" pitchFamily="2" charset="-78"/>
              </a:rPr>
              <a:t>N</a:t>
            </a:r>
            <a:r>
              <a:rPr lang="en-US" sz="4400" dirty="0" smtClean="0">
                <a:cs typeface="B Nazanin" panose="00000400000000000000" pitchFamily="2" charset="-78"/>
              </a:rPr>
              <a:t>eo4j</a:t>
            </a:r>
          </a:p>
          <a:p>
            <a:pPr algn="r" rtl="1">
              <a:buBlip>
                <a:blip r:embed="rId4"/>
              </a:buBlip>
            </a:pPr>
            <a:r>
              <a:rPr lang="en-US" sz="4400" dirty="0" smtClean="0">
                <a:solidFill>
                  <a:srgbClr val="3FA847"/>
                </a:solidFill>
                <a:cs typeface="B Nazanin" panose="00000400000000000000" pitchFamily="2" charset="-78"/>
              </a:rPr>
              <a:t>M</a:t>
            </a:r>
            <a:r>
              <a:rPr lang="en-US" sz="4400" dirty="0" smtClean="0">
                <a:cs typeface="B Nazanin" panose="00000400000000000000" pitchFamily="2" charset="-78"/>
              </a:rPr>
              <a:t>ongoDB</a:t>
            </a:r>
            <a:endParaRPr lang="en-US" sz="4400" dirty="0">
              <a:cs typeface="B Nazanin" panose="00000400000000000000" pitchFamily="2" charset="-78"/>
            </a:endParaRPr>
          </a:p>
        </p:txBody>
      </p:sp>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0" name="Slide Number Placeholder 19"/>
          <p:cNvSpPr txBox="1">
            <a:spLocks/>
          </p:cNvSpPr>
          <p:nvPr/>
        </p:nvSpPr>
        <p:spPr>
          <a:xfrm>
            <a:off x="165354" y="5331111"/>
            <a:ext cx="461772"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5</a:t>
            </a:r>
            <a:endParaRPr lang="en-US" sz="2000" dirty="0"/>
          </a:p>
        </p:txBody>
      </p:sp>
      <p:sp>
        <p:nvSpPr>
          <p:cNvPr id="11"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pic>
        <p:nvPicPr>
          <p:cNvPr id="2" name="Picture 1"/>
          <p:cNvPicPr>
            <a:picLocks noChangeAspect="1"/>
          </p:cNvPicPr>
          <p:nvPr/>
        </p:nvPicPr>
        <p:blipFill rotWithShape="1">
          <a:blip r:embed="rId6">
            <a:extLst>
              <a:ext uri="{28A0092B-C50C-407E-A947-70E740481C1C}">
                <a14:useLocalDpi xmlns:a14="http://schemas.microsoft.com/office/drawing/2010/main" val="0"/>
              </a:ext>
            </a:extLst>
          </a:blip>
          <a:srcRect l="19017" t="11494" r="17765" b="17701"/>
          <a:stretch/>
        </p:blipFill>
        <p:spPr>
          <a:xfrm>
            <a:off x="4383198" y="1365994"/>
            <a:ext cx="1402772" cy="1571108"/>
          </a:xfrm>
          <a:prstGeom prst="rect">
            <a:avLst/>
          </a:prstGeom>
        </p:spPr>
      </p:pic>
      <p:pic>
        <p:nvPicPr>
          <p:cNvPr id="3" name="Pictur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74532" y="1825473"/>
            <a:ext cx="1489566" cy="1280288"/>
          </a:xfrm>
          <a:prstGeom prst="rect">
            <a:avLst/>
          </a:prstGeom>
        </p:spPr>
      </p:pic>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645" y="3130871"/>
            <a:ext cx="2830978" cy="1897640"/>
          </a:xfrm>
          <a:prstGeom prst="rect">
            <a:avLst/>
          </a:prstGeom>
        </p:spPr>
      </p:pic>
      <p:pic>
        <p:nvPicPr>
          <p:cNvPr id="5" name="Picture 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064958" y="3173229"/>
            <a:ext cx="4039253" cy="2106182"/>
          </a:xfrm>
          <a:prstGeom prst="rect">
            <a:avLst/>
          </a:prstGeom>
        </p:spPr>
      </p:pic>
      <p:pic>
        <p:nvPicPr>
          <p:cNvPr id="13" name="Picture 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731754" y="5095979"/>
            <a:ext cx="5352299" cy="1453899"/>
          </a:xfrm>
          <a:prstGeom prst="rect">
            <a:avLst/>
          </a:prstGeom>
        </p:spPr>
      </p:pic>
    </p:spTree>
    <p:extLst>
      <p:ext uri="{BB962C8B-B14F-4D97-AF65-F5344CB8AC3E}">
        <p14:creationId xmlns:p14="http://schemas.microsoft.com/office/powerpoint/2010/main" val="29832634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en-US" dirty="0" smtClean="0">
                <a:cs typeface="B Nazanin" panose="00000400000000000000" pitchFamily="2" charset="-78"/>
              </a:rPr>
              <a:t>MongoDB</a:t>
            </a:r>
            <a:endParaRPr lang="en-US" dirty="0">
              <a:cs typeface="B Nazanin" panose="00000400000000000000" pitchFamily="2" charset="-78"/>
            </a:endParaRPr>
          </a:p>
        </p:txBody>
      </p:sp>
      <p:sp>
        <p:nvSpPr>
          <p:cNvPr id="19" name="Content Placeholder 2"/>
          <p:cNvSpPr>
            <a:spLocks noGrp="1"/>
          </p:cNvSpPr>
          <p:nvPr>
            <p:ph idx="1"/>
          </p:nvPr>
        </p:nvSpPr>
        <p:spPr>
          <a:xfrm>
            <a:off x="2974342" y="1690688"/>
            <a:ext cx="8379458" cy="4351338"/>
          </a:xfrm>
        </p:spPr>
        <p:txBody>
          <a:bodyPr/>
          <a:lstStyle/>
          <a:p>
            <a:pPr algn="r" rtl="1">
              <a:buBlip>
                <a:blip r:embed="rId4"/>
              </a:buBlip>
            </a:pPr>
            <a:r>
              <a:rPr lang="en-US" dirty="0" smtClean="0"/>
              <a:t>MongoDB</a:t>
            </a:r>
            <a:r>
              <a:rPr lang="fa-IR" dirty="0" smtClean="0"/>
              <a:t> </a:t>
            </a:r>
            <a:r>
              <a:rPr lang="fa-IR" dirty="0"/>
              <a:t>یک پایگاه داده </a:t>
            </a:r>
            <a:r>
              <a:rPr lang="fa-IR" dirty="0" smtClean="0"/>
              <a:t>متن باز و </a:t>
            </a:r>
            <a:r>
              <a:rPr lang="fa-IR" dirty="0"/>
              <a:t>رایگان </a:t>
            </a:r>
            <a:r>
              <a:rPr lang="fa-IR" dirty="0" smtClean="0"/>
              <a:t>مثل</a:t>
            </a:r>
            <a:r>
              <a:rPr lang="en-US" dirty="0" smtClean="0"/>
              <a:t>MySQL </a:t>
            </a:r>
            <a:r>
              <a:rPr lang="fa-IR" dirty="0" smtClean="0"/>
              <a:t> است که </a:t>
            </a:r>
            <a:r>
              <a:rPr lang="fa-IR" dirty="0"/>
              <a:t>عمر زیادی ندارد (از سال ۲۰۰۹ انتشار آن آغاز شده</a:t>
            </a:r>
            <a:r>
              <a:rPr lang="fa-IR" dirty="0" smtClean="0"/>
              <a:t>).</a:t>
            </a:r>
            <a:endParaRPr lang="en-US" dirty="0" smtClean="0"/>
          </a:p>
          <a:p>
            <a:pPr algn="r" rtl="1">
              <a:buBlip>
                <a:blip r:embed="rId4"/>
              </a:buBlip>
            </a:pPr>
            <a:endParaRPr lang="en-US" dirty="0" smtClean="0"/>
          </a:p>
          <a:p>
            <a:pPr algn="r" rtl="1">
              <a:buBlip>
                <a:blip r:embed="rId4"/>
              </a:buBlip>
            </a:pPr>
            <a:r>
              <a:rPr lang="fa-IR" dirty="0"/>
              <a:t>این پایگاه داده سندگرا است </a:t>
            </a:r>
            <a:r>
              <a:rPr lang="fa-IR" dirty="0" smtClean="0"/>
              <a:t>و اسناد </a:t>
            </a:r>
            <a:r>
              <a:rPr lang="fa-IR" dirty="0"/>
              <a:t>شبیه به جی‌سون را مدیریت می‌کند</a:t>
            </a:r>
            <a:r>
              <a:rPr lang="fa-IR" dirty="0" smtClean="0"/>
              <a:t>.</a:t>
            </a:r>
            <a:endParaRPr lang="en-US" dirty="0">
              <a:cs typeface="B Nazanin" panose="00000400000000000000" pitchFamily="2" charset="-78"/>
            </a:endParaRPr>
          </a:p>
        </p:txBody>
      </p:sp>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0" name="Slide Number Placeholder 19"/>
          <p:cNvSpPr txBox="1">
            <a:spLocks/>
          </p:cNvSpPr>
          <p:nvPr/>
        </p:nvSpPr>
        <p:spPr>
          <a:xfrm>
            <a:off x="165354" y="5331111"/>
            <a:ext cx="461772"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6</a:t>
            </a:r>
            <a:endParaRPr lang="en-US" sz="2000" dirty="0"/>
          </a:p>
        </p:txBody>
      </p:sp>
      <p:sp>
        <p:nvSpPr>
          <p:cNvPr id="11"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pic>
        <p:nvPicPr>
          <p:cNvPr id="4" name="Picture 3"/>
          <p:cNvPicPr>
            <a:picLocks noChangeAspect="1"/>
          </p:cNvPicPr>
          <p:nvPr/>
        </p:nvPicPr>
        <p:blipFill>
          <a:blip r:embed="rId6"/>
          <a:stretch>
            <a:fillRect/>
          </a:stretch>
        </p:blipFill>
        <p:spPr>
          <a:xfrm>
            <a:off x="1611885" y="3866357"/>
            <a:ext cx="8375247" cy="2420143"/>
          </a:xfrm>
          <a:prstGeom prst="rect">
            <a:avLst/>
          </a:prstGeom>
        </p:spPr>
      </p:pic>
    </p:spTree>
    <p:extLst>
      <p:ext uri="{BB962C8B-B14F-4D97-AF65-F5344CB8AC3E}">
        <p14:creationId xmlns:p14="http://schemas.microsoft.com/office/powerpoint/2010/main" val="10682984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fa-IR" dirty="0" smtClean="0">
                <a:cs typeface="B Nazanin" panose="00000400000000000000" pitchFamily="2" charset="-78"/>
              </a:rPr>
              <a:t>ویژگی ها</a:t>
            </a:r>
            <a:endParaRPr lang="en-US" dirty="0">
              <a:cs typeface="B Nazanin" panose="00000400000000000000" pitchFamily="2" charset="-78"/>
            </a:endParaRPr>
          </a:p>
        </p:txBody>
      </p:sp>
      <p:sp>
        <p:nvSpPr>
          <p:cNvPr id="19" name="Content Placeholder 2"/>
          <p:cNvSpPr>
            <a:spLocks noGrp="1"/>
          </p:cNvSpPr>
          <p:nvPr>
            <p:ph idx="1"/>
          </p:nvPr>
        </p:nvSpPr>
        <p:spPr>
          <a:xfrm>
            <a:off x="5114475" y="1718686"/>
            <a:ext cx="5733357" cy="5018879"/>
          </a:xfrm>
        </p:spPr>
        <p:txBody>
          <a:bodyPr>
            <a:noAutofit/>
          </a:bodyPr>
          <a:lstStyle/>
          <a:p>
            <a:pPr algn="r" rtl="1">
              <a:buBlip>
                <a:blip r:embed="rId4"/>
              </a:buBlip>
            </a:pPr>
            <a:r>
              <a:rPr lang="fa-IR" sz="2400" dirty="0" smtClean="0">
                <a:cs typeface="B Nazanin" panose="00000400000000000000" pitchFamily="2" charset="-78"/>
              </a:rPr>
              <a:t>ساختار سندگرا:</a:t>
            </a:r>
          </a:p>
          <a:p>
            <a:pPr marL="0" indent="0" algn="just" rtl="1">
              <a:buNone/>
            </a:pPr>
            <a:r>
              <a:rPr lang="fa-IR" sz="1600" dirty="0" smtClean="0"/>
              <a:t>در </a:t>
            </a:r>
            <a:r>
              <a:rPr lang="fa-IR" sz="1600" dirty="0"/>
              <a:t>اینجا صرفا یک مجموعه یا </a:t>
            </a:r>
            <a:r>
              <a:rPr lang="en-US" sz="1600" dirty="0"/>
              <a:t>Collection </a:t>
            </a:r>
            <a:r>
              <a:rPr lang="fa-IR" sz="1600" dirty="0"/>
              <a:t>ایجاد می‌کنیم و سپس داده‌های خود را درون سندهایی درج می‌کنیم بدون اینکه بخواهیم زحمت درست کردن جداول و ستون‌ها را دیگر داشته باشیم</a:t>
            </a:r>
            <a:r>
              <a:rPr lang="fa-IR" sz="1600" dirty="0" smtClean="0"/>
              <a:t>.</a:t>
            </a:r>
          </a:p>
          <a:p>
            <a:pPr algn="just" rtl="1"/>
            <a:endParaRPr lang="fa-IR" sz="2400" dirty="0">
              <a:cs typeface="B Nazanin" panose="00000400000000000000" pitchFamily="2" charset="-78"/>
            </a:endParaRPr>
          </a:p>
          <a:p>
            <a:pPr algn="r" rtl="1">
              <a:buBlip>
                <a:blip r:embed="rId4"/>
              </a:buBlip>
            </a:pPr>
            <a:r>
              <a:rPr lang="fa-IR" sz="2400" dirty="0" smtClean="0">
                <a:cs typeface="B Nazanin" panose="00000400000000000000" pitchFamily="2" charset="-78"/>
              </a:rPr>
              <a:t>سیستم </a:t>
            </a:r>
            <a:r>
              <a:rPr lang="en-US" sz="2400" dirty="0" smtClean="0">
                <a:cs typeface="B Nazanin" panose="00000400000000000000" pitchFamily="2" charset="-78"/>
              </a:rPr>
              <a:t>auto sharding</a:t>
            </a:r>
            <a:r>
              <a:rPr lang="fa-IR" sz="2400" dirty="0" smtClean="0">
                <a:cs typeface="B Nazanin" panose="00000400000000000000" pitchFamily="2" charset="-78"/>
              </a:rPr>
              <a:t>:</a:t>
            </a:r>
          </a:p>
          <a:p>
            <a:pPr marL="0" indent="0" algn="r" rtl="1">
              <a:buNone/>
            </a:pPr>
            <a:r>
              <a:rPr lang="fa-IR" sz="1600" dirty="0" smtClean="0"/>
              <a:t>می‌توانید </a:t>
            </a:r>
            <a:r>
              <a:rPr lang="fa-IR" sz="1600" dirty="0"/>
              <a:t>اطلاعات و داده‌های خودتان را بین چند سرور تقسیم کنید و در نتیجه دسترسی به این داده‌ها را بهتر داشته باشید ضمن اینکه اگر یک سرور هم دچار مشکل شود، می‌توانیم از دیگر سرورها استفاده کرده و با مشکل مواجه نشویم</a:t>
            </a:r>
            <a:endParaRPr lang="en-US" sz="1600" dirty="0"/>
          </a:p>
          <a:p>
            <a:pPr algn="r" rtl="1"/>
            <a:endParaRPr lang="en-US" sz="2400" dirty="0">
              <a:cs typeface="B Nazanin" panose="00000400000000000000" pitchFamily="2" charset="-78"/>
            </a:endParaRPr>
          </a:p>
          <a:p>
            <a:pPr algn="r" rtl="1">
              <a:buBlip>
                <a:blip r:embed="rId4"/>
              </a:buBlip>
            </a:pPr>
            <a:r>
              <a:rPr lang="fa-IR" sz="2400" dirty="0">
                <a:cs typeface="B Nazanin" panose="00000400000000000000" pitchFamily="2" charset="-78"/>
              </a:rPr>
              <a:t>استفاده از </a:t>
            </a:r>
            <a:r>
              <a:rPr lang="en-US" sz="2400" dirty="0" smtClean="0">
                <a:cs typeface="B Nazanin" panose="00000400000000000000" pitchFamily="2" charset="-78"/>
              </a:rPr>
              <a:t>Replication</a:t>
            </a:r>
            <a:r>
              <a:rPr lang="fa-IR" sz="2400" dirty="0" smtClean="0">
                <a:cs typeface="B Nazanin" panose="00000400000000000000" pitchFamily="2" charset="-78"/>
              </a:rPr>
              <a:t>:</a:t>
            </a:r>
          </a:p>
          <a:p>
            <a:pPr marL="0" indent="0" algn="r" rtl="1">
              <a:buNone/>
            </a:pPr>
            <a:r>
              <a:rPr lang="fa-IR" sz="1600" dirty="0"/>
              <a:t>ما دو نسخه اصلی (قابلیت خواندن و نوشتن) و فرعی (قابلیت خواندن) را داریم که درواقع نسخه‌های فرعی به نوعی رونوشتی از نسخه‌های اصلی هستند لذا اگر روزی نسخه‌های اصلی دچار مشکل شدند باید از نسخه‌های فرعی استفاده کنیم لذا هیچوقت جایگاه نسخه اصلی خالی نخواهد شد</a:t>
            </a:r>
            <a:r>
              <a:rPr lang="fa-IR" sz="1600" dirty="0" smtClean="0"/>
              <a:t>.</a:t>
            </a:r>
            <a:endParaRPr lang="fa-IR" sz="1600" dirty="0"/>
          </a:p>
        </p:txBody>
      </p:sp>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0" name="Slide Number Placeholder 19"/>
          <p:cNvSpPr txBox="1">
            <a:spLocks/>
          </p:cNvSpPr>
          <p:nvPr/>
        </p:nvSpPr>
        <p:spPr>
          <a:xfrm>
            <a:off x="165354" y="5331111"/>
            <a:ext cx="461772"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7</a:t>
            </a:r>
            <a:endParaRPr lang="en-US" sz="2000" dirty="0"/>
          </a:p>
        </p:txBody>
      </p:sp>
      <p:sp>
        <p:nvSpPr>
          <p:cNvPr id="11"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30749" y="5513832"/>
            <a:ext cx="3342132" cy="1223734"/>
          </a:xfrm>
          <a:prstGeom prst="rect">
            <a:avLst/>
          </a:prstGeom>
        </p:spPr>
      </p:pic>
      <p:pic>
        <p:nvPicPr>
          <p:cNvPr id="4" name="Picture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5353" y="2420815"/>
            <a:ext cx="3675026" cy="2754924"/>
          </a:xfrm>
          <a:prstGeom prst="rect">
            <a:avLst/>
          </a:prstGeom>
        </p:spPr>
      </p:pic>
      <p:pic>
        <p:nvPicPr>
          <p:cNvPr id="2" name="Pictur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84390" y="684663"/>
            <a:ext cx="1795166" cy="2006860"/>
          </a:xfrm>
          <a:prstGeom prst="rect">
            <a:avLst/>
          </a:prstGeom>
        </p:spPr>
      </p:pic>
    </p:spTree>
    <p:extLst>
      <p:ext uri="{BB962C8B-B14F-4D97-AF65-F5344CB8AC3E}">
        <p14:creationId xmlns:p14="http://schemas.microsoft.com/office/powerpoint/2010/main" val="29385331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fa-IR" dirty="0" smtClean="0">
                <a:cs typeface="B Nazanin" panose="00000400000000000000" pitchFamily="2" charset="-78"/>
              </a:rPr>
              <a:t>راه اندازی و شروع </a:t>
            </a:r>
            <a:r>
              <a:rPr lang="en-US" dirty="0" smtClean="0">
                <a:cs typeface="B Nazanin" panose="00000400000000000000" pitchFamily="2" charset="-78"/>
              </a:rPr>
              <a:t>MongoDB</a:t>
            </a:r>
            <a:endParaRPr lang="en-US" dirty="0">
              <a:cs typeface="B Nazanin" panose="00000400000000000000" pitchFamily="2" charset="-78"/>
            </a:endParaRPr>
          </a:p>
        </p:txBody>
      </p:sp>
      <p:sp>
        <p:nvSpPr>
          <p:cNvPr id="19" name="Content Placeholder 2"/>
          <p:cNvSpPr>
            <a:spLocks noGrp="1"/>
          </p:cNvSpPr>
          <p:nvPr>
            <p:ph idx="1"/>
          </p:nvPr>
        </p:nvSpPr>
        <p:spPr>
          <a:xfrm>
            <a:off x="838200" y="1825625"/>
            <a:ext cx="10515600" cy="4351338"/>
          </a:xfrm>
        </p:spPr>
        <p:txBody>
          <a:bodyPr>
            <a:normAutofit/>
          </a:bodyPr>
          <a:lstStyle/>
          <a:p>
            <a:pPr marL="0" indent="0" algn="r" rtl="1">
              <a:buNone/>
            </a:pPr>
            <a:r>
              <a:rPr lang="fa-IR" sz="2400" dirty="0" smtClean="0">
                <a:cs typeface="B Nazanin" panose="00000400000000000000" pitchFamily="2" charset="-78"/>
              </a:rPr>
              <a:t>پایگاه داده‌ی </a:t>
            </a:r>
            <a:r>
              <a:rPr lang="en-US" sz="2400" dirty="0" smtClean="0">
                <a:cs typeface="B Nazanin" panose="00000400000000000000" pitchFamily="2" charset="-78"/>
              </a:rPr>
              <a:t>MongoDB</a:t>
            </a:r>
            <a:r>
              <a:rPr lang="fa-IR" sz="2400" dirty="0" smtClean="0">
                <a:cs typeface="B Nazanin" panose="00000400000000000000" pitchFamily="2" charset="-78"/>
              </a:rPr>
              <a:t> کاربرد ها و قابلیت های زیادی دارد اما ما در اینجا میخواهیم به صورت خلاصه نحوه‌ی </a:t>
            </a:r>
            <a:r>
              <a:rPr lang="fa-IR" sz="2400" dirty="0">
                <a:cs typeface="B Nazanin" panose="00000400000000000000" pitchFamily="2" charset="-78"/>
              </a:rPr>
              <a:t>راه اندازی </a:t>
            </a:r>
            <a:r>
              <a:rPr lang="fa-IR" sz="2400" dirty="0" smtClean="0">
                <a:cs typeface="B Nazanin" panose="00000400000000000000" pitchFamily="2" charset="-78"/>
              </a:rPr>
              <a:t>و استفاده از این پایگاه داده بپردازیم.</a:t>
            </a:r>
          </a:p>
          <a:p>
            <a:pPr marL="0" indent="0" algn="r" rtl="1">
              <a:buNone/>
            </a:pPr>
            <a:endParaRPr lang="en-US" sz="2400" dirty="0" smtClean="0">
              <a:cs typeface="B Nazanin" panose="00000400000000000000" pitchFamily="2" charset="-78"/>
            </a:endParaRPr>
          </a:p>
        </p:txBody>
      </p:sp>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0" name="Slide Number Placeholder 19"/>
          <p:cNvSpPr txBox="1">
            <a:spLocks/>
          </p:cNvSpPr>
          <p:nvPr/>
        </p:nvSpPr>
        <p:spPr>
          <a:xfrm>
            <a:off x="165354" y="5331111"/>
            <a:ext cx="461772"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8</a:t>
            </a:r>
            <a:endParaRPr lang="en-US" sz="2000" dirty="0"/>
          </a:p>
        </p:txBody>
      </p:sp>
      <p:sp>
        <p:nvSpPr>
          <p:cNvPr id="11"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1406" y="2623767"/>
            <a:ext cx="7089187" cy="3988849"/>
          </a:xfrm>
          <a:prstGeom prst="rect">
            <a:avLst/>
          </a:prstGeom>
        </p:spPr>
      </p:pic>
    </p:spTree>
    <p:extLst>
      <p:ext uri="{BB962C8B-B14F-4D97-AF65-F5344CB8AC3E}">
        <p14:creationId xmlns:p14="http://schemas.microsoft.com/office/powerpoint/2010/main" val="30208022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fa-IR" dirty="0" smtClean="0">
                <a:cs typeface="B Nazanin" panose="00000400000000000000" pitchFamily="2" charset="-78"/>
              </a:rPr>
              <a:t>دانلود </a:t>
            </a:r>
            <a:r>
              <a:rPr lang="en-US" dirty="0" smtClean="0">
                <a:cs typeface="B Nazanin" panose="00000400000000000000" pitchFamily="2" charset="-78"/>
              </a:rPr>
              <a:t>MongoDB</a:t>
            </a:r>
            <a:endParaRPr lang="en-US" dirty="0">
              <a:cs typeface="B Nazanin" panose="00000400000000000000" pitchFamily="2" charset="-78"/>
            </a:endParaRPr>
          </a:p>
        </p:txBody>
      </p:sp>
      <p:sp>
        <p:nvSpPr>
          <p:cNvPr id="19" name="Content Placeholder 2"/>
          <p:cNvSpPr>
            <a:spLocks noGrp="1"/>
          </p:cNvSpPr>
          <p:nvPr>
            <p:ph idx="1"/>
          </p:nvPr>
        </p:nvSpPr>
        <p:spPr>
          <a:xfrm>
            <a:off x="838200" y="1825625"/>
            <a:ext cx="10515600" cy="4351338"/>
          </a:xfrm>
        </p:spPr>
        <p:txBody>
          <a:bodyPr>
            <a:normAutofit/>
          </a:bodyPr>
          <a:lstStyle/>
          <a:p>
            <a:pPr algn="r" rtl="1">
              <a:buBlip>
                <a:blip r:embed="rId4"/>
              </a:buBlip>
            </a:pPr>
            <a:r>
              <a:rPr lang="fa-IR" sz="2400" dirty="0" smtClean="0">
                <a:cs typeface="B Nazanin" panose="00000400000000000000" pitchFamily="2" charset="-78"/>
              </a:rPr>
              <a:t>به سایت رسمی </a:t>
            </a:r>
            <a:r>
              <a:rPr lang="en-US" sz="2400" dirty="0" smtClean="0">
                <a:cs typeface="B Nazanin" panose="00000400000000000000" pitchFamily="2" charset="-78"/>
              </a:rPr>
              <a:t>MongoDB</a:t>
            </a:r>
            <a:r>
              <a:rPr lang="fa-IR" sz="2400" dirty="0">
                <a:cs typeface="B Nazanin" panose="00000400000000000000" pitchFamily="2" charset="-78"/>
              </a:rPr>
              <a:t> </a:t>
            </a:r>
            <a:r>
              <a:rPr lang="fa-IR" sz="2400" dirty="0" smtClean="0">
                <a:cs typeface="B Nazanin" panose="00000400000000000000" pitchFamily="2" charset="-78"/>
              </a:rPr>
              <a:t>رفته و آخرین نسخه‌ی آن‌را که مناسب سیستم عامل ما باشد را دانلود میکنیم.</a:t>
            </a:r>
            <a:endParaRPr lang="en-US" sz="2400" dirty="0" smtClean="0">
              <a:cs typeface="B Nazanin" panose="00000400000000000000" pitchFamily="2" charset="-78"/>
            </a:endParaRPr>
          </a:p>
        </p:txBody>
      </p:sp>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0" name="Slide Number Placeholder 19"/>
          <p:cNvSpPr txBox="1">
            <a:spLocks/>
          </p:cNvSpPr>
          <p:nvPr/>
        </p:nvSpPr>
        <p:spPr>
          <a:xfrm>
            <a:off x="165354" y="5331111"/>
            <a:ext cx="461772"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a-IR" sz="2000" dirty="0" smtClean="0"/>
              <a:t>9</a:t>
            </a:r>
            <a:endParaRPr lang="en-US" sz="2000" dirty="0"/>
          </a:p>
        </p:txBody>
      </p:sp>
      <p:sp>
        <p:nvSpPr>
          <p:cNvPr id="11"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pic>
        <p:nvPicPr>
          <p:cNvPr id="2" name="Picture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42032" y="2487344"/>
            <a:ext cx="7164688" cy="4030137"/>
          </a:xfrm>
          <a:prstGeom prst="rect">
            <a:avLst/>
          </a:prstGeom>
        </p:spPr>
      </p:pic>
    </p:spTree>
    <p:extLst>
      <p:ext uri="{BB962C8B-B14F-4D97-AF65-F5344CB8AC3E}">
        <p14:creationId xmlns:p14="http://schemas.microsoft.com/office/powerpoint/2010/main" val="8498853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fa-IR" dirty="0" smtClean="0">
                <a:cs typeface="B Nazanin" panose="00000400000000000000" pitchFamily="2" charset="-78"/>
              </a:rPr>
              <a:t>نصب </a:t>
            </a:r>
            <a:r>
              <a:rPr lang="en-US" dirty="0" smtClean="0">
                <a:cs typeface="B Nazanin" panose="00000400000000000000" pitchFamily="2" charset="-78"/>
              </a:rPr>
              <a:t>MongoDB</a:t>
            </a:r>
            <a:endParaRPr lang="en-US" dirty="0">
              <a:cs typeface="B Nazanin" panose="00000400000000000000" pitchFamily="2" charset="-78"/>
            </a:endParaRPr>
          </a:p>
        </p:txBody>
      </p:sp>
      <p:sp>
        <p:nvSpPr>
          <p:cNvPr id="19" name="Content Placeholder 2"/>
          <p:cNvSpPr>
            <a:spLocks noGrp="1"/>
          </p:cNvSpPr>
          <p:nvPr>
            <p:ph idx="1"/>
          </p:nvPr>
        </p:nvSpPr>
        <p:spPr>
          <a:xfrm>
            <a:off x="838200" y="1825625"/>
            <a:ext cx="10515600" cy="4351338"/>
          </a:xfrm>
        </p:spPr>
        <p:txBody>
          <a:bodyPr>
            <a:normAutofit/>
          </a:bodyPr>
          <a:lstStyle/>
          <a:p>
            <a:pPr algn="r" rtl="1">
              <a:buBlip>
                <a:blip r:embed="rId4"/>
              </a:buBlip>
            </a:pPr>
            <a:r>
              <a:rPr lang="fa-IR" sz="2400" dirty="0" smtClean="0">
                <a:cs typeface="B Nazanin" panose="00000400000000000000" pitchFamily="2" charset="-78"/>
              </a:rPr>
              <a:t>پس از نصب پایگاه داده برای فعال کردن مسیر آن در سیستم از مسیر </a:t>
            </a:r>
            <a:r>
              <a:rPr lang="en-US" sz="2400" dirty="0" smtClean="0">
                <a:cs typeface="B Nazanin" panose="00000400000000000000" pitchFamily="2" charset="-78"/>
              </a:rPr>
              <a:t>Control Panel</a:t>
            </a:r>
            <a:r>
              <a:rPr lang="fa-IR" sz="2400" dirty="0" smtClean="0">
                <a:cs typeface="B Nazanin" panose="00000400000000000000" pitchFamily="2" charset="-78"/>
              </a:rPr>
              <a:t> به </a:t>
            </a:r>
            <a:r>
              <a:rPr lang="en-US" sz="2400" dirty="0"/>
              <a:t>Advanced system </a:t>
            </a:r>
            <a:r>
              <a:rPr lang="en-US" sz="2400" dirty="0" smtClean="0"/>
              <a:t>settings</a:t>
            </a:r>
            <a:r>
              <a:rPr lang="fa-IR" sz="2400" dirty="0" smtClean="0"/>
              <a:t> میرویم و </a:t>
            </a:r>
            <a:r>
              <a:rPr lang="fa-IR" sz="2400" dirty="0"/>
              <a:t>در زیر </a:t>
            </a:r>
            <a:r>
              <a:rPr lang="fa-IR" sz="2400" dirty="0" smtClean="0"/>
              <a:t>آن </a:t>
            </a:r>
            <a:r>
              <a:rPr lang="fa-IR" sz="2400" dirty="0"/>
              <a:t>بر روی </a:t>
            </a:r>
            <a:r>
              <a:rPr lang="en-US" sz="2400" dirty="0"/>
              <a:t>Environment variables </a:t>
            </a:r>
            <a:r>
              <a:rPr lang="fa-IR" sz="2400" dirty="0" smtClean="0"/>
              <a:t>کلیک میکنیم.</a:t>
            </a:r>
          </a:p>
          <a:p>
            <a:pPr marL="0" indent="0" algn="r" rtl="1">
              <a:buNone/>
            </a:pPr>
            <a:endParaRPr lang="en-US" sz="2400" dirty="0" smtClean="0">
              <a:cs typeface="B Nazanin" panose="00000400000000000000" pitchFamily="2" charset="-78"/>
            </a:endParaRPr>
          </a:p>
        </p:txBody>
      </p:sp>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0" name="Slide Number Placeholder 19"/>
          <p:cNvSpPr txBox="1">
            <a:spLocks/>
          </p:cNvSpPr>
          <p:nvPr/>
        </p:nvSpPr>
        <p:spPr>
          <a:xfrm>
            <a:off x="67112" y="5331111"/>
            <a:ext cx="560014"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a-IR" sz="2000" dirty="0" smtClean="0"/>
              <a:t>10</a:t>
            </a:r>
            <a:endParaRPr lang="en-US" sz="2000" dirty="0"/>
          </a:p>
        </p:txBody>
      </p:sp>
      <p:sp>
        <p:nvSpPr>
          <p:cNvPr id="11"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pic>
        <p:nvPicPr>
          <p:cNvPr id="7170" name="Picture 2" descr="https://s.7learn.com/uploads/2018/05/advance-system-settings.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6688" y="2623552"/>
            <a:ext cx="5461722" cy="355341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s.7learn.com/uploads/2018/05/environments-variables.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73730" y="2851929"/>
            <a:ext cx="3714750" cy="3724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9147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fa-IR" dirty="0">
                <a:cs typeface="B Nazanin" panose="00000400000000000000" pitchFamily="2" charset="-78"/>
              </a:rPr>
              <a:t>نصب </a:t>
            </a:r>
            <a:r>
              <a:rPr lang="en-US" dirty="0">
                <a:cs typeface="B Nazanin" panose="00000400000000000000" pitchFamily="2" charset="-78"/>
              </a:rPr>
              <a:t>MongoDB</a:t>
            </a:r>
            <a:endParaRPr lang="en-US" dirty="0">
              <a:cs typeface="B Nazanin" panose="00000400000000000000" pitchFamily="2" charset="-78"/>
            </a:endParaRPr>
          </a:p>
        </p:txBody>
      </p:sp>
      <p:sp>
        <p:nvSpPr>
          <p:cNvPr id="19" name="Content Placeholder 2"/>
          <p:cNvSpPr>
            <a:spLocks noGrp="1"/>
          </p:cNvSpPr>
          <p:nvPr>
            <p:ph idx="1"/>
          </p:nvPr>
        </p:nvSpPr>
        <p:spPr>
          <a:xfrm>
            <a:off x="838200" y="1825625"/>
            <a:ext cx="10515600" cy="4351338"/>
          </a:xfrm>
        </p:spPr>
        <p:txBody>
          <a:bodyPr>
            <a:normAutofit/>
          </a:bodyPr>
          <a:lstStyle/>
          <a:p>
            <a:pPr algn="justLow" rtl="1">
              <a:buBlip>
                <a:blip r:embed="rId4"/>
              </a:buBlip>
            </a:pPr>
            <a:r>
              <a:rPr lang="fa-IR" sz="2400" dirty="0" smtClean="0">
                <a:cs typeface="B Nazanin" panose="00000400000000000000" pitchFamily="2" charset="-78"/>
              </a:rPr>
              <a:t>حالا بر روی </a:t>
            </a:r>
            <a:r>
              <a:rPr lang="en-US" sz="2400" dirty="0" smtClean="0">
                <a:cs typeface="B Nazanin" panose="00000400000000000000" pitchFamily="2" charset="-78"/>
              </a:rPr>
              <a:t>Path</a:t>
            </a:r>
            <a:r>
              <a:rPr lang="fa-IR" sz="2400" dirty="0" smtClean="0">
                <a:cs typeface="B Nazanin" panose="00000400000000000000" pitchFamily="2" charset="-78"/>
              </a:rPr>
              <a:t> دوبار کلیک میکنیم.</a:t>
            </a:r>
            <a:endParaRPr lang="en-US" sz="2400" dirty="0" smtClean="0">
              <a:cs typeface="B Nazanin" panose="00000400000000000000" pitchFamily="2" charset="-78"/>
            </a:endParaRPr>
          </a:p>
          <a:p>
            <a:pPr algn="justLow" rtl="1">
              <a:buBlip>
                <a:blip r:embed="rId4"/>
              </a:buBlip>
            </a:pPr>
            <a:r>
              <a:rPr lang="fa-IR" sz="2400" dirty="0" smtClean="0">
                <a:cs typeface="B Nazanin" panose="00000400000000000000" pitchFamily="2" charset="-78"/>
              </a:rPr>
              <a:t> </a:t>
            </a:r>
            <a:r>
              <a:rPr lang="fa-IR" sz="2400" dirty="0">
                <a:cs typeface="B Nazanin" panose="00000400000000000000" pitchFamily="2" charset="-78"/>
              </a:rPr>
              <a:t>بعد از باز شدن اطلاعات مربوط </a:t>
            </a:r>
            <a:r>
              <a:rPr lang="fa-IR" sz="2400" dirty="0" smtClean="0">
                <a:cs typeface="B Nazanin" panose="00000400000000000000" pitchFamily="2" charset="-78"/>
              </a:rPr>
              <a:t>به</a:t>
            </a:r>
            <a:r>
              <a:rPr lang="en-US" sz="2400" dirty="0" smtClean="0">
                <a:cs typeface="B Nazanin" panose="00000400000000000000" pitchFamily="2" charset="-78"/>
              </a:rPr>
              <a:t>Path </a:t>
            </a:r>
            <a:r>
              <a:rPr lang="fa-IR" sz="2400" dirty="0" smtClean="0">
                <a:cs typeface="B Nazanin" panose="00000400000000000000" pitchFamily="2" charset="-78"/>
              </a:rPr>
              <a:t> بر </a:t>
            </a:r>
            <a:r>
              <a:rPr lang="fa-IR" sz="2400" dirty="0">
                <a:cs typeface="B Nazanin" panose="00000400000000000000" pitchFamily="2" charset="-78"/>
              </a:rPr>
              <a:t>روی </a:t>
            </a:r>
            <a:r>
              <a:rPr lang="en-US" sz="2400" dirty="0" smtClean="0">
                <a:cs typeface="B Nazanin" panose="00000400000000000000" pitchFamily="2" charset="-78"/>
              </a:rPr>
              <a:t> New</a:t>
            </a:r>
            <a:r>
              <a:rPr lang="fa-IR" sz="2400" dirty="0" smtClean="0">
                <a:cs typeface="B Nazanin" panose="00000400000000000000" pitchFamily="2" charset="-78"/>
              </a:rPr>
              <a:t>کلیک میکنیم و </a:t>
            </a:r>
            <a:r>
              <a:rPr lang="fa-IR" sz="2400" dirty="0">
                <a:cs typeface="B Nazanin" panose="00000400000000000000" pitchFamily="2" charset="-78"/>
              </a:rPr>
              <a:t>مسیر کپی شده </a:t>
            </a:r>
            <a:r>
              <a:rPr lang="fa-IR" sz="2400" dirty="0" smtClean="0">
                <a:cs typeface="B Nazanin" panose="00000400000000000000" pitchFamily="2" charset="-78"/>
              </a:rPr>
              <a:t>مانند زیر را </a:t>
            </a:r>
            <a:r>
              <a:rPr lang="fa-IR" sz="2400" dirty="0">
                <a:cs typeface="B Nazanin" panose="00000400000000000000" pitchFamily="2" charset="-78"/>
              </a:rPr>
              <a:t>وارد </a:t>
            </a:r>
            <a:r>
              <a:rPr lang="fa-IR" sz="2400" dirty="0" smtClean="0">
                <a:cs typeface="B Nazanin" panose="00000400000000000000" pitchFamily="2" charset="-78"/>
              </a:rPr>
              <a:t>و در نهایت بر روی </a:t>
            </a:r>
            <a:r>
              <a:rPr lang="en-US" sz="2400" dirty="0" smtClean="0">
                <a:cs typeface="B Nazanin" panose="00000400000000000000" pitchFamily="2" charset="-78"/>
              </a:rPr>
              <a:t>OK</a:t>
            </a:r>
            <a:r>
              <a:rPr lang="fa-IR" sz="2400" dirty="0">
                <a:cs typeface="B Nazanin" panose="00000400000000000000" pitchFamily="2" charset="-78"/>
              </a:rPr>
              <a:t> </a:t>
            </a:r>
            <a:r>
              <a:rPr lang="fa-IR" sz="2400" dirty="0" smtClean="0">
                <a:cs typeface="B Nazanin" panose="00000400000000000000" pitchFamily="2" charset="-78"/>
              </a:rPr>
              <a:t>کلیک میکنیم.</a:t>
            </a:r>
            <a:endParaRPr lang="en-US" sz="2400" dirty="0">
              <a:cs typeface="B Nazanin" panose="00000400000000000000" pitchFamily="2" charset="-78"/>
            </a:endParaRPr>
          </a:p>
          <a:p>
            <a:pPr marL="0" indent="0" rtl="1">
              <a:buNone/>
            </a:pPr>
            <a:endParaRPr lang="en-US" sz="2400" dirty="0" smtClean="0">
              <a:cs typeface="B Nazanin" panose="00000400000000000000" pitchFamily="2" charset="-78"/>
            </a:endParaRPr>
          </a:p>
          <a:p>
            <a:pPr marL="0" indent="0" algn="r" rtl="1">
              <a:buNone/>
            </a:pPr>
            <a:r>
              <a:rPr lang="en-US" sz="2000" dirty="0">
                <a:solidFill>
                  <a:srgbClr val="3FA847"/>
                </a:solidFill>
                <a:cs typeface="B Nazanin" panose="00000400000000000000" pitchFamily="2" charset="-78"/>
              </a:rPr>
              <a:t>C:\Program Files\MongoDB\Server\3.6\bin </a:t>
            </a:r>
            <a:r>
              <a:rPr lang="fa-IR" sz="2000" dirty="0">
                <a:cs typeface="B Nazanin" panose="00000400000000000000" pitchFamily="2" charset="-78"/>
              </a:rPr>
              <a:t> </a:t>
            </a:r>
            <a:r>
              <a:rPr lang="en-US" sz="2000" dirty="0">
                <a:cs typeface="B Nazanin" panose="00000400000000000000" pitchFamily="2" charset="-78"/>
              </a:rPr>
              <a:t> </a:t>
            </a:r>
            <a:endParaRPr lang="en-US" sz="2000" dirty="0" smtClean="0">
              <a:cs typeface="B Nazanin" panose="00000400000000000000" pitchFamily="2" charset="-78"/>
            </a:endParaRPr>
          </a:p>
        </p:txBody>
      </p:sp>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0" name="Slide Number Placeholder 19"/>
          <p:cNvSpPr txBox="1">
            <a:spLocks/>
          </p:cNvSpPr>
          <p:nvPr/>
        </p:nvSpPr>
        <p:spPr>
          <a:xfrm>
            <a:off x="165354" y="5331111"/>
            <a:ext cx="461772"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a-IR" sz="2000" dirty="0" smtClean="0"/>
              <a:t>11</a:t>
            </a:r>
            <a:endParaRPr lang="en-US" sz="2000" dirty="0"/>
          </a:p>
        </p:txBody>
      </p:sp>
      <p:sp>
        <p:nvSpPr>
          <p:cNvPr id="11"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pic>
        <p:nvPicPr>
          <p:cNvPr id="6146" name="Picture 2" descr="https://s.7learn.com/uploads/2018/05/add-variable.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5326" y="2826827"/>
            <a:ext cx="4969030" cy="3992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160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3"/>
            <a:ext cx="2542032" cy="1756314"/>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7832" y="5513832"/>
            <a:ext cx="1344168" cy="1344168"/>
          </a:xfrm>
          <a:prstGeom prst="rect">
            <a:avLst/>
          </a:prstGeom>
        </p:spPr>
      </p:pic>
      <p:sp>
        <p:nvSpPr>
          <p:cNvPr id="18" name="Title 1"/>
          <p:cNvSpPr>
            <a:spLocks noGrp="1"/>
          </p:cNvSpPr>
          <p:nvPr>
            <p:ph type="title"/>
          </p:nvPr>
        </p:nvSpPr>
        <p:spPr>
          <a:xfrm>
            <a:off x="838200" y="365125"/>
            <a:ext cx="10515600" cy="1325563"/>
          </a:xfrm>
        </p:spPr>
        <p:txBody>
          <a:bodyPr/>
          <a:lstStyle/>
          <a:p>
            <a:pPr algn="r" rtl="1"/>
            <a:r>
              <a:rPr lang="fa-IR" dirty="0">
                <a:cs typeface="B Nazanin" panose="00000400000000000000" pitchFamily="2" charset="-78"/>
              </a:rPr>
              <a:t>نصب </a:t>
            </a:r>
            <a:r>
              <a:rPr lang="en-US" dirty="0">
                <a:cs typeface="B Nazanin" panose="00000400000000000000" pitchFamily="2" charset="-78"/>
              </a:rPr>
              <a:t>MongoDB</a:t>
            </a:r>
            <a:endParaRPr lang="en-US" dirty="0">
              <a:cs typeface="B Nazanin" panose="00000400000000000000" pitchFamily="2" charset="-78"/>
            </a:endParaRPr>
          </a:p>
        </p:txBody>
      </p:sp>
      <p:sp>
        <p:nvSpPr>
          <p:cNvPr id="19" name="Content Placeholder 2"/>
          <p:cNvSpPr>
            <a:spLocks noGrp="1"/>
          </p:cNvSpPr>
          <p:nvPr>
            <p:ph idx="1"/>
          </p:nvPr>
        </p:nvSpPr>
        <p:spPr>
          <a:xfrm>
            <a:off x="5494788" y="1825625"/>
            <a:ext cx="5859011" cy="4351338"/>
          </a:xfrm>
        </p:spPr>
        <p:txBody>
          <a:bodyPr>
            <a:normAutofit/>
          </a:bodyPr>
          <a:lstStyle/>
          <a:p>
            <a:pPr algn="r" rtl="1">
              <a:buBlip>
                <a:blip r:embed="rId4"/>
              </a:buBlip>
            </a:pPr>
            <a:r>
              <a:rPr lang="fa-IR" sz="2400" dirty="0">
                <a:cs typeface="B Nazanin" panose="00000400000000000000" pitchFamily="2" charset="-78"/>
              </a:rPr>
              <a:t> بعد از اینکار نیاز هست که یک </a:t>
            </a:r>
            <a:r>
              <a:rPr lang="fa-IR" sz="2400" dirty="0" smtClean="0">
                <a:cs typeface="B Nazanin" panose="00000400000000000000" pitchFamily="2" charset="-78"/>
              </a:rPr>
              <a:t>پوشه </a:t>
            </a:r>
            <a:r>
              <a:rPr lang="en-US" sz="2400" dirty="0" smtClean="0">
                <a:cs typeface="B Nazanin" panose="00000400000000000000" pitchFamily="2" charset="-78"/>
              </a:rPr>
              <a:t>data</a:t>
            </a:r>
            <a:r>
              <a:rPr lang="fa-IR" sz="2400" dirty="0">
                <a:cs typeface="B Nazanin" panose="00000400000000000000" pitchFamily="2" charset="-78"/>
              </a:rPr>
              <a:t> </a:t>
            </a:r>
            <a:r>
              <a:rPr lang="en-US" sz="2400" dirty="0" smtClean="0">
                <a:cs typeface="B Nazanin" panose="00000400000000000000" pitchFamily="2" charset="-78"/>
              </a:rPr>
              <a:t> </a:t>
            </a:r>
            <a:r>
              <a:rPr lang="fa-IR" sz="2400" dirty="0">
                <a:cs typeface="B Nazanin" panose="00000400000000000000" pitchFamily="2" charset="-78"/>
              </a:rPr>
              <a:t>در ریشه درایو </a:t>
            </a:r>
            <a:r>
              <a:rPr lang="en-US" sz="2400" dirty="0">
                <a:cs typeface="B Nazanin" panose="00000400000000000000" pitchFamily="2" charset="-78"/>
              </a:rPr>
              <a:t>C </a:t>
            </a:r>
            <a:r>
              <a:rPr lang="fa-IR" sz="2400" dirty="0" smtClean="0">
                <a:cs typeface="B Nazanin" panose="00000400000000000000" pitchFamily="2" charset="-78"/>
              </a:rPr>
              <a:t> بسازیم </a:t>
            </a:r>
            <a:r>
              <a:rPr lang="fa-IR" sz="2400" dirty="0">
                <a:cs typeface="B Nazanin" panose="00000400000000000000" pitchFamily="2" charset="-78"/>
              </a:rPr>
              <a:t>و دو پوشه </a:t>
            </a:r>
            <a:r>
              <a:rPr lang="en-US" sz="2400" dirty="0">
                <a:cs typeface="B Nazanin" panose="00000400000000000000" pitchFamily="2" charset="-78"/>
              </a:rPr>
              <a:t>db </a:t>
            </a:r>
            <a:r>
              <a:rPr lang="fa-IR" sz="2400" dirty="0" smtClean="0">
                <a:cs typeface="B Nazanin" panose="00000400000000000000" pitchFamily="2" charset="-78"/>
              </a:rPr>
              <a:t> و </a:t>
            </a:r>
            <a:r>
              <a:rPr lang="en-US" sz="2400" dirty="0">
                <a:cs typeface="B Nazanin" panose="00000400000000000000" pitchFamily="2" charset="-78"/>
              </a:rPr>
              <a:t>log </a:t>
            </a:r>
            <a:r>
              <a:rPr lang="fa-IR" sz="2400" dirty="0" smtClean="0">
                <a:cs typeface="B Nazanin" panose="00000400000000000000" pitchFamily="2" charset="-78"/>
              </a:rPr>
              <a:t> را </a:t>
            </a:r>
            <a:r>
              <a:rPr lang="fa-IR" sz="2400" dirty="0">
                <a:cs typeface="B Nazanin" panose="00000400000000000000" pitchFamily="2" charset="-78"/>
              </a:rPr>
              <a:t>در </a:t>
            </a:r>
            <a:r>
              <a:rPr lang="fa-IR" sz="2400" dirty="0">
                <a:cs typeface="B Nazanin" panose="00000400000000000000" pitchFamily="2" charset="-78"/>
              </a:rPr>
              <a:t>آ</a:t>
            </a:r>
            <a:r>
              <a:rPr lang="fa-IR" sz="2400" dirty="0" smtClean="0">
                <a:cs typeface="B Nazanin" panose="00000400000000000000" pitchFamily="2" charset="-78"/>
              </a:rPr>
              <a:t>ن </a:t>
            </a:r>
            <a:r>
              <a:rPr lang="fa-IR" sz="2400" dirty="0">
                <a:cs typeface="B Nazanin" panose="00000400000000000000" pitchFamily="2" charset="-78"/>
              </a:rPr>
              <a:t>قرار </a:t>
            </a:r>
            <a:r>
              <a:rPr lang="fa-IR" sz="2400" dirty="0" smtClean="0">
                <a:cs typeface="B Nazanin" panose="00000400000000000000" pitchFamily="2" charset="-78"/>
              </a:rPr>
              <a:t>بدهیم.</a:t>
            </a:r>
          </a:p>
          <a:p>
            <a:pPr marL="0" indent="0" algn="r" rtl="1">
              <a:buNone/>
            </a:pPr>
            <a:endParaRPr lang="fa-IR" sz="2400" dirty="0" smtClean="0">
              <a:cs typeface="B Nazanin" panose="00000400000000000000" pitchFamily="2" charset="-78"/>
            </a:endParaRPr>
          </a:p>
          <a:p>
            <a:pPr algn="r" rtl="1">
              <a:buBlip>
                <a:blip r:embed="rId4"/>
              </a:buBlip>
            </a:pPr>
            <a:r>
              <a:rPr lang="fa-IR" sz="2400" dirty="0" smtClean="0">
                <a:cs typeface="B Nazanin" panose="00000400000000000000" pitchFamily="2" charset="-78"/>
              </a:rPr>
              <a:t> </a:t>
            </a:r>
            <a:r>
              <a:rPr lang="en-US" sz="2400" dirty="0">
                <a:cs typeface="B Nazanin" panose="00000400000000000000" pitchFamily="2" charset="-78"/>
              </a:rPr>
              <a:t>MongoDB </a:t>
            </a:r>
            <a:r>
              <a:rPr lang="fa-IR" sz="2400" dirty="0" smtClean="0">
                <a:cs typeface="B Nazanin" panose="00000400000000000000" pitchFamily="2" charset="-78"/>
              </a:rPr>
              <a:t> بصورت </a:t>
            </a:r>
            <a:r>
              <a:rPr lang="fa-IR" sz="2400" dirty="0">
                <a:cs typeface="B Nazanin" panose="00000400000000000000" pitchFamily="2" charset="-78"/>
              </a:rPr>
              <a:t>پیش فرض اطلاعات مورد نظر </a:t>
            </a:r>
            <a:r>
              <a:rPr lang="fa-IR" sz="2400" dirty="0" smtClean="0">
                <a:cs typeface="B Nazanin" panose="00000400000000000000" pitchFamily="2" charset="-78"/>
              </a:rPr>
              <a:t>را در </a:t>
            </a:r>
            <a:r>
              <a:rPr lang="fa-IR" sz="2400" dirty="0">
                <a:cs typeface="B Nazanin" panose="00000400000000000000" pitchFamily="2" charset="-78"/>
              </a:rPr>
              <a:t>این پوشه ها ذخیره </a:t>
            </a:r>
            <a:r>
              <a:rPr lang="fa-IR" sz="2400" dirty="0" smtClean="0">
                <a:cs typeface="B Nazanin" panose="00000400000000000000" pitchFamily="2" charset="-78"/>
              </a:rPr>
              <a:t>میکن</a:t>
            </a:r>
            <a:r>
              <a:rPr lang="fa-IR" sz="2400" dirty="0">
                <a:cs typeface="B Nazanin" panose="00000400000000000000" pitchFamily="2" charset="-78"/>
              </a:rPr>
              <a:t>د</a:t>
            </a:r>
            <a:r>
              <a:rPr lang="fa-IR" sz="2400" dirty="0" smtClean="0">
                <a:cs typeface="B Nazanin" panose="00000400000000000000" pitchFamily="2" charset="-78"/>
              </a:rPr>
              <a:t>.</a:t>
            </a:r>
          </a:p>
          <a:p>
            <a:pPr marL="0" indent="0" algn="r" rtl="1">
              <a:buNone/>
            </a:pPr>
            <a:endParaRPr lang="fa-IR" sz="2400" dirty="0" smtClean="0">
              <a:cs typeface="B Nazanin" panose="00000400000000000000" pitchFamily="2" charset="-78"/>
            </a:endParaRPr>
          </a:p>
          <a:p>
            <a:pPr algn="r" rtl="1">
              <a:buBlip>
                <a:blip r:embed="rId4"/>
              </a:buBlip>
            </a:pPr>
            <a:r>
              <a:rPr lang="fa-IR" sz="2400" dirty="0" smtClean="0">
                <a:cs typeface="B Nazanin" panose="00000400000000000000" pitchFamily="2" charset="-78"/>
              </a:rPr>
              <a:t> حال میتوانیم </a:t>
            </a:r>
            <a:r>
              <a:rPr lang="fa-IR" sz="2400" dirty="0">
                <a:cs typeface="B Nazanin" panose="00000400000000000000" pitchFamily="2" charset="-78"/>
              </a:rPr>
              <a:t>سرور </a:t>
            </a:r>
            <a:r>
              <a:rPr lang="en-US" sz="2400" dirty="0">
                <a:cs typeface="B Nazanin" panose="00000400000000000000" pitchFamily="2" charset="-78"/>
              </a:rPr>
              <a:t>MongoDB </a:t>
            </a:r>
            <a:r>
              <a:rPr lang="fa-IR" sz="2400" dirty="0" smtClean="0">
                <a:cs typeface="B Nazanin" panose="00000400000000000000" pitchFamily="2" charset="-78"/>
              </a:rPr>
              <a:t>را </a:t>
            </a:r>
            <a:r>
              <a:rPr lang="fa-IR" sz="2400" dirty="0">
                <a:cs typeface="B Nazanin" panose="00000400000000000000" pitchFamily="2" charset="-78"/>
              </a:rPr>
              <a:t>اجرا کنیم</a:t>
            </a:r>
            <a:r>
              <a:rPr lang="fa-IR" sz="2400" dirty="0" smtClean="0">
                <a:cs typeface="B Nazanin" panose="00000400000000000000" pitchFamily="2" charset="-78"/>
              </a:rPr>
              <a:t>.</a:t>
            </a:r>
          </a:p>
          <a:p>
            <a:pPr marL="0" indent="0" algn="r" rtl="1">
              <a:buNone/>
            </a:pPr>
            <a:endParaRPr lang="fa-IR" sz="2400" dirty="0" smtClean="0">
              <a:cs typeface="B Nazanin" panose="00000400000000000000" pitchFamily="2" charset="-78"/>
            </a:endParaRPr>
          </a:p>
          <a:p>
            <a:pPr algn="r" rtl="1">
              <a:buBlip>
                <a:blip r:embed="rId4"/>
              </a:buBlip>
            </a:pPr>
            <a:r>
              <a:rPr lang="fa-IR" sz="2400" dirty="0" smtClean="0">
                <a:cs typeface="B Nazanin" panose="00000400000000000000" pitchFamily="2" charset="-78"/>
              </a:rPr>
              <a:t> </a:t>
            </a:r>
            <a:r>
              <a:rPr lang="fa-IR" sz="2400" dirty="0">
                <a:cs typeface="B Nazanin" panose="00000400000000000000" pitchFamily="2" charset="-78"/>
              </a:rPr>
              <a:t>برای </a:t>
            </a:r>
            <a:r>
              <a:rPr lang="fa-IR" sz="2400" dirty="0" smtClean="0">
                <a:cs typeface="B Nazanin" panose="00000400000000000000" pitchFamily="2" charset="-78"/>
              </a:rPr>
              <a:t>اینکار </a:t>
            </a:r>
            <a:r>
              <a:rPr lang="en-US" sz="2400" dirty="0" smtClean="0">
                <a:cs typeface="B Nazanin" panose="00000400000000000000" pitchFamily="2" charset="-78"/>
              </a:rPr>
              <a:t>cmd</a:t>
            </a:r>
            <a:r>
              <a:rPr lang="fa-IR" sz="2400" dirty="0" smtClean="0">
                <a:cs typeface="B Nazanin" panose="00000400000000000000" pitchFamily="2" charset="-78"/>
              </a:rPr>
              <a:t> </a:t>
            </a:r>
            <a:r>
              <a:rPr lang="en-US" sz="2400" dirty="0" smtClean="0">
                <a:cs typeface="B Nazanin" panose="00000400000000000000" pitchFamily="2" charset="-78"/>
              </a:rPr>
              <a:t> </a:t>
            </a:r>
            <a:r>
              <a:rPr lang="fa-IR" sz="2400" dirty="0" smtClean="0">
                <a:cs typeface="B Nazanin" panose="00000400000000000000" pitchFamily="2" charset="-78"/>
              </a:rPr>
              <a:t>را </a:t>
            </a:r>
            <a:r>
              <a:rPr lang="fa-IR" sz="2400" dirty="0">
                <a:cs typeface="B Nazanin" panose="00000400000000000000" pitchFamily="2" charset="-78"/>
              </a:rPr>
              <a:t>باز میکنیم </a:t>
            </a:r>
            <a:r>
              <a:rPr lang="fa-IR" sz="2400" dirty="0" smtClean="0">
                <a:cs typeface="B Nazanin" panose="00000400000000000000" pitchFamily="2" charset="-78"/>
              </a:rPr>
              <a:t>و </a:t>
            </a:r>
            <a:r>
              <a:rPr lang="en-US" sz="2400" dirty="0" smtClean="0">
                <a:cs typeface="B Nazanin" panose="00000400000000000000" pitchFamily="2" charset="-78"/>
              </a:rPr>
              <a:t>mongod</a:t>
            </a:r>
            <a:r>
              <a:rPr lang="fa-IR" sz="2400" dirty="0" smtClean="0">
                <a:cs typeface="B Nazanin" panose="00000400000000000000" pitchFamily="2" charset="-78"/>
              </a:rPr>
              <a:t> </a:t>
            </a:r>
            <a:r>
              <a:rPr lang="en-US" sz="2400" dirty="0" smtClean="0">
                <a:cs typeface="B Nazanin" panose="00000400000000000000" pitchFamily="2" charset="-78"/>
              </a:rPr>
              <a:t> </a:t>
            </a:r>
            <a:r>
              <a:rPr lang="fa-IR" sz="2400" dirty="0" smtClean="0">
                <a:cs typeface="B Nazanin" panose="00000400000000000000" pitchFamily="2" charset="-78"/>
              </a:rPr>
              <a:t>را </a:t>
            </a:r>
            <a:r>
              <a:rPr lang="fa-IR" sz="2400" dirty="0">
                <a:cs typeface="B Nazanin" panose="00000400000000000000" pitchFamily="2" charset="-78"/>
              </a:rPr>
              <a:t>تایپ کرده و </a:t>
            </a:r>
            <a:r>
              <a:rPr lang="en-US" sz="2400" dirty="0">
                <a:cs typeface="B Nazanin" panose="00000400000000000000" pitchFamily="2" charset="-78"/>
              </a:rPr>
              <a:t>Enter </a:t>
            </a:r>
            <a:r>
              <a:rPr lang="fa-IR" sz="2400" dirty="0" smtClean="0">
                <a:cs typeface="B Nazanin" panose="00000400000000000000" pitchFamily="2" charset="-78"/>
              </a:rPr>
              <a:t> میزنیم</a:t>
            </a:r>
            <a:r>
              <a:rPr lang="en-US" sz="2400" dirty="0">
                <a:cs typeface="B Nazanin" panose="00000400000000000000" pitchFamily="2" charset="-78"/>
              </a:rPr>
              <a:t>.</a:t>
            </a:r>
            <a:endParaRPr lang="en-US" sz="2400" dirty="0" smtClean="0">
              <a:cs typeface="B Nazanin" panose="00000400000000000000" pitchFamily="2" charset="-78"/>
            </a:endParaRPr>
          </a:p>
        </p:txBody>
      </p:sp>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21432"/>
          <a:stretch/>
        </p:blipFill>
        <p:spPr>
          <a:xfrm>
            <a:off x="0" y="5243208"/>
            <a:ext cx="1179576" cy="1501349"/>
          </a:xfrm>
          <a:prstGeom prst="rect">
            <a:avLst/>
          </a:prstGeom>
        </p:spPr>
      </p:pic>
      <p:sp>
        <p:nvSpPr>
          <p:cNvPr id="10" name="Slide Number Placeholder 19"/>
          <p:cNvSpPr txBox="1">
            <a:spLocks/>
          </p:cNvSpPr>
          <p:nvPr/>
        </p:nvSpPr>
        <p:spPr>
          <a:xfrm>
            <a:off x="117446" y="5331111"/>
            <a:ext cx="509680" cy="36544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a-IR" sz="2000" dirty="0" smtClean="0"/>
              <a:t>12</a:t>
            </a:r>
            <a:endParaRPr lang="en-US" sz="2000" dirty="0"/>
          </a:p>
        </p:txBody>
      </p:sp>
      <p:sp>
        <p:nvSpPr>
          <p:cNvPr id="11" name="Slide Number Placeholder 19"/>
          <p:cNvSpPr txBox="1">
            <a:spLocks/>
          </p:cNvSpPr>
          <p:nvPr/>
        </p:nvSpPr>
        <p:spPr>
          <a:xfrm>
            <a:off x="196596" y="6016752"/>
            <a:ext cx="466344" cy="46874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smtClean="0"/>
              <a:t>13</a:t>
            </a:r>
            <a:endParaRPr lang="en-US" sz="2000" dirty="0"/>
          </a:p>
        </p:txBody>
      </p:sp>
      <p:pic>
        <p:nvPicPr>
          <p:cNvPr id="5124" name="Picture 4" descr="https://s.7learn.com/uploads/2018/05/mongodb-server-run.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3551" y="1878372"/>
            <a:ext cx="4326217" cy="3364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1776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525556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TotalTime>
  <Words>509</Words>
  <Application>Microsoft Office PowerPoint</Application>
  <PresentationFormat>Widescreen</PresentationFormat>
  <Paragraphs>82</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 Nazanin</vt:lpstr>
      <vt:lpstr>Calibri</vt:lpstr>
      <vt:lpstr>Calibri Light</vt:lpstr>
      <vt:lpstr>Office Theme</vt:lpstr>
      <vt:lpstr>PowerPoint Presentation</vt:lpstr>
      <vt:lpstr>NoSQL چیست؟</vt:lpstr>
      <vt:lpstr>مزایا و معایب NoSQL</vt:lpstr>
      <vt:lpstr>انواع مختلف NoSQL</vt:lpstr>
      <vt:lpstr>برخی از پایگاه داده های NoSQL</vt:lpstr>
      <vt:lpstr>MongoDB</vt:lpstr>
      <vt:lpstr>ویژگی ها</vt:lpstr>
      <vt:lpstr>راه اندازی و شروع MongoDB</vt:lpstr>
      <vt:lpstr>دانلود MongoDB</vt:lpstr>
      <vt:lpstr>نصب MongoDB</vt:lpstr>
      <vt:lpstr>نصب MongoDB</vt:lpstr>
      <vt:lpstr>نصب MongoDB</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MongoDB</dc:title>
  <dc:creator>Yasin Boloorchi</dc:creator>
  <cp:lastModifiedBy>Yasin Boloorchi</cp:lastModifiedBy>
  <cp:revision>25</cp:revision>
  <dcterms:created xsi:type="dcterms:W3CDTF">2019-06-14T13:26:34Z</dcterms:created>
  <dcterms:modified xsi:type="dcterms:W3CDTF">2019-07-07T18:23:57Z</dcterms:modified>
</cp:coreProperties>
</file>